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57" r:id="rId3"/>
    <p:sldId id="258" r:id="rId4"/>
    <p:sldId id="259" r:id="rId5"/>
    <p:sldId id="270" r:id="rId6"/>
    <p:sldId id="274" r:id="rId7"/>
    <p:sldId id="275" r:id="rId8"/>
    <p:sldId id="262" r:id="rId9"/>
    <p:sldId id="276" r:id="rId10"/>
    <p:sldId id="277" r:id="rId11"/>
    <p:sldId id="278" r:id="rId12"/>
    <p:sldId id="279" r:id="rId13"/>
    <p:sldId id="280" r:id="rId14"/>
    <p:sldId id="266" r:id="rId15"/>
    <p:sldId id="261" r:id="rId16"/>
    <p:sldId id="260" r:id="rId17"/>
    <p:sldId id="264" r:id="rId18"/>
    <p:sldId id="263" r:id="rId19"/>
    <p:sldId id="281" r:id="rId20"/>
    <p:sldId id="265" r:id="rId21"/>
    <p:sldId id="273" r:id="rId22"/>
    <p:sldId id="26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98" d="100"/>
          <a:sy n="98" d="100"/>
        </p:scale>
        <p:origin x="5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4236496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316089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2971525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5011E2-2761-4FFD-A5AD-68AA83C43D6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1283842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5011E2-2761-4FFD-A5AD-68AA83C43D68}"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169438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5011E2-2761-4FFD-A5AD-68AA83C43D68}"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384368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5011E2-2761-4FFD-A5AD-68AA83C43D68}"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221895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011E2-2761-4FFD-A5AD-68AA83C43D6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93037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011E2-2761-4FFD-A5AD-68AA83C43D6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952086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011E2-2761-4FFD-A5AD-68AA83C43D68}"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4142153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15980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1091708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1704028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E5011E2-2761-4FFD-A5AD-68AA83C43D68}"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36569071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E5011E2-2761-4FFD-A5AD-68AA83C43D68}" type="datetimeFigureOut">
              <a:rPr lang="en-US" smtClean="0"/>
              <a:t>11/22/2025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2250065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2630609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E5011E2-2761-4FFD-A5AD-68AA83C43D68}"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9136F9-B18D-4DF0-B0E4-09E7DBDE3694}" type="slidenum">
              <a:rPr lang="en-US" smtClean="0"/>
              <a:t>‹#›</a:t>
            </a:fld>
            <a:endParaRPr lang="en-US"/>
          </a:p>
        </p:txBody>
      </p:sp>
    </p:spTree>
    <p:extLst>
      <p:ext uri="{BB962C8B-B14F-4D97-AF65-F5344CB8AC3E}">
        <p14:creationId xmlns:p14="http://schemas.microsoft.com/office/powerpoint/2010/main" val="647230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E5011E2-2761-4FFD-A5AD-68AA83C43D68}" type="datetimeFigureOut">
              <a:rPr lang="en-US" smtClean="0"/>
              <a:t>11/22/2025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59136F9-B18D-4DF0-B0E4-09E7DBDE3694}" type="slidenum">
              <a:rPr lang="en-US" smtClean="0"/>
              <a:t>‹#›</a:t>
            </a:fld>
            <a:endParaRPr lang="en-US"/>
          </a:p>
        </p:txBody>
      </p:sp>
    </p:spTree>
    <p:extLst>
      <p:ext uri="{BB962C8B-B14F-4D97-AF65-F5344CB8AC3E}">
        <p14:creationId xmlns:p14="http://schemas.microsoft.com/office/powerpoint/2010/main" val="497125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2802-6B91-4C19-898C-429591B9A6B1}"/>
              </a:ext>
            </a:extLst>
          </p:cNvPr>
          <p:cNvSpPr>
            <a:spLocks noGrp="1"/>
          </p:cNvSpPr>
          <p:nvPr>
            <p:ph type="ctrTitle"/>
          </p:nvPr>
        </p:nvSpPr>
        <p:spPr/>
        <p:txBody>
          <a:bodyPr/>
          <a:lstStyle/>
          <a:p>
            <a:r>
              <a:rPr lang="en-US" sz="3200" dirty="0">
                <a:latin typeface="Comic Sans MS" panose="030F0702030302020204" pitchFamily="66" charset="0"/>
              </a:rPr>
              <a:t>SALES ANALYSIS PROJECT – POWERBI</a:t>
            </a:r>
          </a:p>
        </p:txBody>
      </p:sp>
      <p:sp>
        <p:nvSpPr>
          <p:cNvPr id="3" name="Subtitle 2">
            <a:extLst>
              <a:ext uri="{FF2B5EF4-FFF2-40B4-BE49-F238E27FC236}">
                <a16:creationId xmlns:a16="http://schemas.microsoft.com/office/drawing/2014/main" id="{436CDE0A-2B95-4E69-9BC3-1EA61422E41F}"/>
              </a:ext>
            </a:extLst>
          </p:cNvPr>
          <p:cNvSpPr>
            <a:spLocks noGrp="1"/>
          </p:cNvSpPr>
          <p:nvPr>
            <p:ph type="subTitle" idx="1"/>
          </p:nvPr>
        </p:nvSpPr>
        <p:spPr/>
        <p:txBody>
          <a:bodyPr>
            <a:normAutofit/>
          </a:bodyPr>
          <a:lstStyle/>
          <a:p>
            <a:r>
              <a:rPr lang="en-US" sz="2000" dirty="0">
                <a:solidFill>
                  <a:schemeClr val="accent4">
                    <a:lumMod val="75000"/>
                  </a:schemeClr>
                </a:solidFill>
                <a:latin typeface="Comic Sans MS" panose="030F0702030302020204" pitchFamily="66" charset="0"/>
              </a:rPr>
              <a:t>PRESENTATION by Aderonke </a:t>
            </a:r>
            <a:r>
              <a:rPr lang="en-US" sz="2000" dirty="0" err="1">
                <a:solidFill>
                  <a:schemeClr val="accent4">
                    <a:lumMod val="75000"/>
                  </a:schemeClr>
                </a:solidFill>
                <a:latin typeface="Comic Sans MS" panose="030F0702030302020204" pitchFamily="66" charset="0"/>
              </a:rPr>
              <a:t>diana</a:t>
            </a:r>
            <a:r>
              <a:rPr lang="en-US" sz="2000" dirty="0">
                <a:solidFill>
                  <a:schemeClr val="accent4">
                    <a:lumMod val="75000"/>
                  </a:schemeClr>
                </a:solidFill>
                <a:latin typeface="Comic Sans MS" panose="030F0702030302020204" pitchFamily="66" charset="0"/>
              </a:rPr>
              <a:t> Adeoye.</a:t>
            </a:r>
          </a:p>
        </p:txBody>
      </p:sp>
    </p:spTree>
    <p:extLst>
      <p:ext uri="{BB962C8B-B14F-4D97-AF65-F5344CB8AC3E}">
        <p14:creationId xmlns:p14="http://schemas.microsoft.com/office/powerpoint/2010/main" val="1925689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29EAD-CA69-45BC-B829-B171A70A6F0A}"/>
              </a:ext>
            </a:extLst>
          </p:cNvPr>
          <p:cNvSpPr>
            <a:spLocks noGrp="1"/>
          </p:cNvSpPr>
          <p:nvPr>
            <p:ph type="title"/>
          </p:nvPr>
        </p:nvSpPr>
        <p:spPr/>
        <p:txBody>
          <a:bodyPr/>
          <a:lstStyle/>
          <a:p>
            <a:r>
              <a:rPr lang="en-US" dirty="0">
                <a:latin typeface="Comic Sans MS" panose="030F0702030302020204" pitchFamily="66" charset="0"/>
              </a:rPr>
              <a:t>Overview.</a:t>
            </a:r>
          </a:p>
        </p:txBody>
      </p:sp>
      <p:sp>
        <p:nvSpPr>
          <p:cNvPr id="3" name="Content Placeholder 2">
            <a:extLst>
              <a:ext uri="{FF2B5EF4-FFF2-40B4-BE49-F238E27FC236}">
                <a16:creationId xmlns:a16="http://schemas.microsoft.com/office/drawing/2014/main" id="{417E07CB-F7CF-43B7-91E9-2E996B08A69A}"/>
              </a:ext>
            </a:extLst>
          </p:cNvPr>
          <p:cNvSpPr>
            <a:spLocks noGrp="1"/>
          </p:cNvSpPr>
          <p:nvPr>
            <p:ph idx="1"/>
          </p:nvPr>
        </p:nvSpPr>
        <p:spPr>
          <a:xfrm>
            <a:off x="518811" y="2603499"/>
            <a:ext cx="5025955" cy="3615717"/>
          </a:xfrm>
        </p:spPr>
        <p:txBody>
          <a:bodyPr>
            <a:noAutofit/>
          </a:bodyPr>
          <a:lstStyle/>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Revenue.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number of Products. </a:t>
            </a: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number of Manufacturers.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 of Urban Revenue.</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Number of Countries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number of Cities.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Revenue Trend by Year and Month.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Top 5 Manufacturers By Revenue.</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Top 10 Products By Revenue.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Revenue By Category.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Total Revenue By Country. </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Segment, Revenue, and a Sparkline of Revenue by Product.</a:t>
            </a:r>
            <a:endParaRPr lang="en-US" sz="1400" dirty="0">
              <a:solidFill>
                <a:schemeClr val="accent1"/>
              </a:solidFill>
              <a:latin typeface="Comic Sans MS" panose="030F0702030302020204" pitchFamily="66" charset="0"/>
            </a:endParaRPr>
          </a:p>
          <a:p>
            <a:pPr rtl="0">
              <a:spcBef>
                <a:spcPts val="0"/>
              </a:spcBef>
              <a:spcAft>
                <a:spcPts val="0"/>
              </a:spcAft>
              <a:buFont typeface="Wingdings" panose="05000000000000000000" pitchFamily="2" charset="2"/>
              <a:buChar char="v"/>
            </a:pPr>
            <a:r>
              <a:rPr lang="en-US" sz="1400" b="0" i="0" u="none" strike="noStrike" dirty="0">
                <a:solidFill>
                  <a:schemeClr val="accent1"/>
                </a:solidFill>
                <a:effectLst/>
                <a:latin typeface="Comic Sans MS" panose="030F0702030302020204" pitchFamily="66" charset="0"/>
              </a:rPr>
              <a:t>Average Revenue.</a:t>
            </a:r>
          </a:p>
          <a:p>
            <a:pPr rtl="0">
              <a:spcBef>
                <a:spcPts val="0"/>
              </a:spcBef>
              <a:spcAft>
                <a:spcPts val="0"/>
              </a:spcAft>
              <a:buFont typeface="Wingdings" panose="05000000000000000000" pitchFamily="2" charset="2"/>
              <a:buChar char="v"/>
            </a:pPr>
            <a:r>
              <a:rPr lang="en-US" sz="1400" dirty="0">
                <a:solidFill>
                  <a:schemeClr val="accent1"/>
                </a:solidFill>
                <a:latin typeface="Comic Sans MS" panose="030F0702030302020204" pitchFamily="66" charset="0"/>
              </a:rPr>
              <a:t>Total Revenue by Segment.</a:t>
            </a:r>
          </a:p>
          <a:p>
            <a:pPr rtl="0">
              <a:spcBef>
                <a:spcPts val="0"/>
              </a:spcBef>
              <a:spcAft>
                <a:spcPts val="0"/>
              </a:spcAft>
              <a:buFont typeface="Wingdings" panose="05000000000000000000" pitchFamily="2" charset="2"/>
              <a:buChar char="v"/>
            </a:pPr>
            <a:r>
              <a:rPr lang="en-US" sz="1400" dirty="0">
                <a:solidFill>
                  <a:schemeClr val="accent1"/>
                </a:solidFill>
                <a:latin typeface="Comic Sans MS" panose="030F0702030302020204" pitchFamily="66" charset="0"/>
              </a:rPr>
              <a:t>Revenue YoY.</a:t>
            </a:r>
            <a:br>
              <a:rPr lang="en-US" sz="1400" dirty="0">
                <a:solidFill>
                  <a:schemeClr val="accent1"/>
                </a:solidFill>
                <a:latin typeface="Comic Sans MS" panose="030F0702030302020204" pitchFamily="66" charset="0"/>
              </a:rPr>
            </a:br>
            <a:endParaRPr lang="en-US" sz="1400" dirty="0">
              <a:solidFill>
                <a:schemeClr val="accent1"/>
              </a:solidFill>
              <a:latin typeface="Comic Sans MS" panose="030F0702030302020204" pitchFamily="66" charset="0"/>
            </a:endParaRPr>
          </a:p>
        </p:txBody>
      </p:sp>
      <p:pic>
        <p:nvPicPr>
          <p:cNvPr id="6" name="Picture 5">
            <a:extLst>
              <a:ext uri="{FF2B5EF4-FFF2-40B4-BE49-F238E27FC236}">
                <a16:creationId xmlns:a16="http://schemas.microsoft.com/office/drawing/2014/main" id="{2CDB70AA-EC14-4AD9-8179-42F514CF4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0391" y="2659140"/>
            <a:ext cx="6406408" cy="3416300"/>
          </a:xfrm>
          <a:prstGeom prst="rect">
            <a:avLst/>
          </a:prstGeom>
        </p:spPr>
      </p:pic>
    </p:spTree>
    <p:extLst>
      <p:ext uri="{BB962C8B-B14F-4D97-AF65-F5344CB8AC3E}">
        <p14:creationId xmlns:p14="http://schemas.microsoft.com/office/powerpoint/2010/main" val="283151235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3BA55-54FA-4BE2-9891-FCAEEEC27F1F}"/>
              </a:ext>
            </a:extLst>
          </p:cNvPr>
          <p:cNvSpPr>
            <a:spLocks noGrp="1"/>
          </p:cNvSpPr>
          <p:nvPr>
            <p:ph type="title"/>
          </p:nvPr>
        </p:nvSpPr>
        <p:spPr/>
        <p:txBody>
          <a:bodyPr/>
          <a:lstStyle/>
          <a:p>
            <a:r>
              <a:rPr lang="en-US" dirty="0">
                <a:latin typeface="Comic Sans MS" panose="030F0702030302020204" pitchFamily="66" charset="0"/>
              </a:rPr>
              <a:t>Problem Statement.</a:t>
            </a:r>
          </a:p>
        </p:txBody>
      </p:sp>
      <p:sp>
        <p:nvSpPr>
          <p:cNvPr id="3" name="Content Placeholder 2">
            <a:extLst>
              <a:ext uri="{FF2B5EF4-FFF2-40B4-BE49-F238E27FC236}">
                <a16:creationId xmlns:a16="http://schemas.microsoft.com/office/drawing/2014/main" id="{A39A52CE-3A24-4BE8-A052-CCF57C47E028}"/>
              </a:ext>
            </a:extLst>
          </p:cNvPr>
          <p:cNvSpPr>
            <a:spLocks noGrp="1"/>
          </p:cNvSpPr>
          <p:nvPr>
            <p:ph idx="1"/>
          </p:nvPr>
        </p:nvSpPr>
        <p:spPr>
          <a:xfrm>
            <a:off x="1154954" y="2603500"/>
            <a:ext cx="9876212" cy="3416300"/>
          </a:xfrm>
        </p:spPr>
        <p:txBody>
          <a:bodyPr>
            <a:normAutofit fontScale="92500" lnSpcReduction="20000"/>
          </a:bodyPr>
          <a:lstStyle/>
          <a:p>
            <a:pPr marL="0" indent="0" algn="just">
              <a:lnSpc>
                <a:spcPct val="150000"/>
              </a:lnSpc>
              <a:buNone/>
            </a:pPr>
            <a:r>
              <a:rPr lang="en-US" sz="2200" b="0" i="0" dirty="0">
                <a:solidFill>
                  <a:schemeClr val="accent1"/>
                </a:solidFill>
                <a:effectLst/>
                <a:latin typeface="Comic Sans MS" panose="030F0702030302020204" pitchFamily="66" charset="0"/>
              </a:rPr>
              <a:t>A multinational retail corporation is facing challenges in gaining comprehensive visibility into its global sales performance. Despite having extensive sales data across multiple countries, product categories, and customer segments, the organization lacks a unified analytical framework to derive actionable insights. Decision-makers are struggling to identify growth opportunities, optimize product portfolios, and understand geographic performance patterns due to the fragmented nature of data analysis approaches.</a:t>
            </a:r>
          </a:p>
          <a:p>
            <a:pPr marL="0" indent="0">
              <a:buNone/>
            </a:pPr>
            <a:br>
              <a:rPr lang="en-US" dirty="0">
                <a:solidFill>
                  <a:schemeClr val="accent1"/>
                </a:solidFill>
              </a:rPr>
            </a:br>
            <a:endParaRPr lang="en-US" dirty="0">
              <a:solidFill>
                <a:schemeClr val="accent1"/>
              </a:solidFill>
              <a:latin typeface="Comic Sans MS" panose="030F0702030302020204" pitchFamily="66" charset="0"/>
            </a:endParaRPr>
          </a:p>
        </p:txBody>
      </p:sp>
    </p:spTree>
    <p:extLst>
      <p:ext uri="{BB962C8B-B14F-4D97-AF65-F5344CB8AC3E}">
        <p14:creationId xmlns:p14="http://schemas.microsoft.com/office/powerpoint/2010/main" val="16130585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70C0-65FB-4F84-BEFC-4FD33AE08447}"/>
              </a:ext>
            </a:extLst>
          </p:cNvPr>
          <p:cNvSpPr>
            <a:spLocks noGrp="1"/>
          </p:cNvSpPr>
          <p:nvPr>
            <p:ph type="title"/>
          </p:nvPr>
        </p:nvSpPr>
        <p:spPr/>
        <p:txBody>
          <a:bodyPr/>
          <a:lstStyle/>
          <a:p>
            <a:r>
              <a:rPr lang="en-US" sz="2800" dirty="0">
                <a:latin typeface="Comic Sans MS" panose="030F0702030302020204" pitchFamily="66" charset="0"/>
              </a:rPr>
              <a:t>Methodology – Data Collection and Integration.</a:t>
            </a:r>
          </a:p>
        </p:txBody>
      </p:sp>
      <p:sp>
        <p:nvSpPr>
          <p:cNvPr id="3" name="Content Placeholder 2">
            <a:extLst>
              <a:ext uri="{FF2B5EF4-FFF2-40B4-BE49-F238E27FC236}">
                <a16:creationId xmlns:a16="http://schemas.microsoft.com/office/drawing/2014/main" id="{56469129-7E2B-4BB1-B96A-5C08B621834F}"/>
              </a:ext>
            </a:extLst>
          </p:cNvPr>
          <p:cNvSpPr>
            <a:spLocks noGrp="1"/>
          </p:cNvSpPr>
          <p:nvPr>
            <p:ph idx="1"/>
          </p:nvPr>
        </p:nvSpPr>
        <p:spPr>
          <a:xfrm>
            <a:off x="1154955" y="2603500"/>
            <a:ext cx="9798390" cy="3416300"/>
          </a:xfrm>
        </p:spPr>
        <p:txBody>
          <a:bodyPr numCol="1">
            <a:normAutofit fontScale="85000" lnSpcReduction="10000"/>
          </a:bodyPr>
          <a:lstStyle/>
          <a:p>
            <a:pPr marL="0" indent="0" algn="just">
              <a:lnSpc>
                <a:spcPct val="150000"/>
              </a:lnSpc>
              <a:buNone/>
            </a:pPr>
            <a:r>
              <a:rPr lang="en-US" sz="3200" dirty="0">
                <a:solidFill>
                  <a:schemeClr val="accent1"/>
                </a:solidFill>
                <a:latin typeface="Comic Sans MS" panose="030F0702030302020204" pitchFamily="66" charset="0"/>
              </a:rPr>
              <a:t>Data Integration: My tutor, Mr. Josh gave me the dataset for analysis. The sales dataset was extracted, transformed and loaded into the Power Query editor for comprehensive analysis.</a:t>
            </a:r>
          </a:p>
          <a:p>
            <a:pPr marL="0" indent="0">
              <a:buNone/>
            </a:pPr>
            <a:endParaRPr lang="en-US" dirty="0">
              <a:solidFill>
                <a:schemeClr val="accent1"/>
              </a:solidFill>
              <a:latin typeface="Comic Sans MS" panose="030F0702030302020204" pitchFamily="66" charset="0"/>
            </a:endParaRPr>
          </a:p>
          <a:p>
            <a:pPr marL="0" indent="0">
              <a:buNone/>
            </a:pPr>
            <a:endParaRPr lang="en-US" dirty="0">
              <a:solidFill>
                <a:schemeClr val="accent1"/>
              </a:solidFill>
              <a:latin typeface="Comic Sans MS" panose="030F0702030302020204" pitchFamily="66" charset="0"/>
            </a:endParaRPr>
          </a:p>
          <a:p>
            <a:pPr marL="0" indent="0">
              <a:buNone/>
            </a:pPr>
            <a:r>
              <a:rPr lang="en-US" dirty="0">
                <a:solidFill>
                  <a:schemeClr val="accent1"/>
                </a:solidFill>
                <a:latin typeface="Comic Sans MS" panose="030F0702030302020204" pitchFamily="66" charset="0"/>
              </a:rPr>
              <a:t>	</a:t>
            </a:r>
          </a:p>
          <a:p>
            <a:pPr marL="0" indent="0">
              <a:buNone/>
            </a:pPr>
            <a:endParaRPr lang="en-US" dirty="0">
              <a:solidFill>
                <a:schemeClr val="accent1"/>
              </a:solidFill>
              <a:latin typeface="Comic Sans MS" panose="030F0702030302020204" pitchFamily="66" charset="0"/>
            </a:endParaRPr>
          </a:p>
        </p:txBody>
      </p:sp>
      <p:pic>
        <p:nvPicPr>
          <p:cNvPr id="5" name="Picture 4">
            <a:extLst>
              <a:ext uri="{FF2B5EF4-FFF2-40B4-BE49-F238E27FC236}">
                <a16:creationId xmlns:a16="http://schemas.microsoft.com/office/drawing/2014/main" id="{DBBB3987-0B4B-484C-9930-E216FF47A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4495" y="903816"/>
            <a:ext cx="806897" cy="825500"/>
          </a:xfrm>
          <a:prstGeom prst="rect">
            <a:avLst/>
          </a:prstGeom>
        </p:spPr>
      </p:pic>
    </p:spTree>
    <p:extLst>
      <p:ext uri="{BB962C8B-B14F-4D97-AF65-F5344CB8AC3E}">
        <p14:creationId xmlns:p14="http://schemas.microsoft.com/office/powerpoint/2010/main" val="39619076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70C0-65FB-4F84-BEFC-4FD33AE08447}"/>
              </a:ext>
            </a:extLst>
          </p:cNvPr>
          <p:cNvSpPr>
            <a:spLocks noGrp="1"/>
          </p:cNvSpPr>
          <p:nvPr>
            <p:ph type="title"/>
          </p:nvPr>
        </p:nvSpPr>
        <p:spPr>
          <a:xfrm>
            <a:off x="1154955" y="973668"/>
            <a:ext cx="7729642" cy="706964"/>
          </a:xfrm>
        </p:spPr>
        <p:txBody>
          <a:bodyPr/>
          <a:lstStyle/>
          <a:p>
            <a:r>
              <a:rPr lang="en-US" sz="2800" dirty="0">
                <a:latin typeface="Comic Sans MS" panose="030F0702030302020204" pitchFamily="66" charset="0"/>
              </a:rPr>
              <a:t>Methodology – Data Cleaning and Preparation.</a:t>
            </a:r>
          </a:p>
        </p:txBody>
      </p:sp>
      <p:sp>
        <p:nvSpPr>
          <p:cNvPr id="3" name="Content Placeholder 2">
            <a:extLst>
              <a:ext uri="{FF2B5EF4-FFF2-40B4-BE49-F238E27FC236}">
                <a16:creationId xmlns:a16="http://schemas.microsoft.com/office/drawing/2014/main" id="{56469129-7E2B-4BB1-B96A-5C08B621834F}"/>
              </a:ext>
            </a:extLst>
          </p:cNvPr>
          <p:cNvSpPr>
            <a:spLocks noGrp="1"/>
          </p:cNvSpPr>
          <p:nvPr>
            <p:ph idx="1"/>
          </p:nvPr>
        </p:nvSpPr>
        <p:spPr>
          <a:xfrm>
            <a:off x="1154955" y="2603500"/>
            <a:ext cx="9798390" cy="3416300"/>
          </a:xfrm>
        </p:spPr>
        <p:txBody>
          <a:bodyPr numCol="1">
            <a:normAutofit/>
          </a:bodyPr>
          <a:lstStyle/>
          <a:p>
            <a:pPr algn="just">
              <a:buFont typeface="Wingdings" panose="05000000000000000000" pitchFamily="2" charset="2"/>
              <a:buChar char="ü"/>
            </a:pPr>
            <a:r>
              <a:rPr lang="en-US" sz="2800" dirty="0">
                <a:solidFill>
                  <a:schemeClr val="accent1"/>
                </a:solidFill>
                <a:latin typeface="Comic Sans MS" panose="030F0702030302020204" pitchFamily="66" charset="0"/>
              </a:rPr>
              <a:t>Handled missing or null values in the dataset.</a:t>
            </a:r>
          </a:p>
          <a:p>
            <a:pPr algn="just">
              <a:buFont typeface="Wingdings" panose="05000000000000000000" pitchFamily="2" charset="2"/>
              <a:buChar char="ü"/>
            </a:pPr>
            <a:r>
              <a:rPr lang="en-US" sz="2800" dirty="0">
                <a:solidFill>
                  <a:schemeClr val="accent1"/>
                </a:solidFill>
                <a:latin typeface="Comic Sans MS" panose="030F0702030302020204" pitchFamily="66" charset="0"/>
              </a:rPr>
              <a:t>Removed duplicate records.</a:t>
            </a:r>
          </a:p>
          <a:p>
            <a:pPr algn="just">
              <a:buFont typeface="Wingdings" panose="05000000000000000000" pitchFamily="2" charset="2"/>
              <a:buChar char="ü"/>
            </a:pPr>
            <a:r>
              <a:rPr lang="en-US" sz="2800" dirty="0">
                <a:solidFill>
                  <a:schemeClr val="accent1"/>
                </a:solidFill>
                <a:latin typeface="Comic Sans MS" panose="030F0702030302020204" pitchFamily="66" charset="0"/>
              </a:rPr>
              <a:t>Added and removed fields where necessary.</a:t>
            </a:r>
          </a:p>
          <a:p>
            <a:pPr algn="just">
              <a:buFont typeface="Wingdings" panose="05000000000000000000" pitchFamily="2" charset="2"/>
              <a:buChar char="ü"/>
            </a:pPr>
            <a:r>
              <a:rPr lang="en-US" sz="2800" dirty="0">
                <a:solidFill>
                  <a:schemeClr val="accent1"/>
                </a:solidFill>
                <a:latin typeface="Comic Sans MS" panose="030F0702030302020204" pitchFamily="66" charset="0"/>
              </a:rPr>
              <a:t>Corrected the datatypes.</a:t>
            </a:r>
          </a:p>
          <a:p>
            <a:pPr algn="just">
              <a:buFont typeface="Wingdings" panose="05000000000000000000" pitchFamily="2" charset="2"/>
              <a:buChar char="ü"/>
            </a:pPr>
            <a:r>
              <a:rPr lang="en-US" sz="2800" dirty="0">
                <a:solidFill>
                  <a:schemeClr val="accent1"/>
                </a:solidFill>
                <a:latin typeface="Comic Sans MS" panose="030F0702030302020204" pitchFamily="66" charset="0"/>
              </a:rPr>
              <a:t>Created the date table to track sales across board.</a:t>
            </a:r>
          </a:p>
          <a:p>
            <a:pPr marL="0" indent="0" algn="just">
              <a:buNone/>
            </a:pPr>
            <a:endParaRPr lang="en-US" sz="2800" dirty="0">
              <a:solidFill>
                <a:schemeClr val="accent1"/>
              </a:solidFill>
              <a:latin typeface="Comic Sans MS" panose="030F0702030302020204" pitchFamily="66" charset="0"/>
            </a:endParaRPr>
          </a:p>
          <a:p>
            <a:pPr marL="0" indent="0" algn="just">
              <a:buNone/>
            </a:pPr>
            <a:endParaRPr lang="en-US" sz="2800" dirty="0">
              <a:solidFill>
                <a:schemeClr val="accent1"/>
              </a:solidFill>
              <a:latin typeface="Comic Sans MS" panose="030F0702030302020204" pitchFamily="66" charset="0"/>
            </a:endParaRPr>
          </a:p>
          <a:p>
            <a:pPr algn="just">
              <a:buFont typeface="Wingdings" panose="05000000000000000000" pitchFamily="2" charset="2"/>
              <a:buChar char="ü"/>
            </a:pPr>
            <a:endParaRPr lang="en-US" sz="2800" dirty="0">
              <a:solidFill>
                <a:schemeClr val="accent1"/>
              </a:solidFill>
              <a:latin typeface="Comic Sans MS" panose="030F0702030302020204" pitchFamily="66" charset="0"/>
            </a:endParaRPr>
          </a:p>
          <a:p>
            <a:pPr algn="just">
              <a:buFont typeface="Wingdings" panose="05000000000000000000" pitchFamily="2" charset="2"/>
              <a:buChar char="ü"/>
            </a:pPr>
            <a:endParaRPr lang="en-US" sz="2800" dirty="0">
              <a:solidFill>
                <a:schemeClr val="accent1"/>
              </a:solidFill>
              <a:latin typeface="Comic Sans MS" panose="030F0702030302020204" pitchFamily="66" charset="0"/>
            </a:endParaRPr>
          </a:p>
        </p:txBody>
      </p:sp>
      <p:pic>
        <p:nvPicPr>
          <p:cNvPr id="5" name="Picture 4">
            <a:extLst>
              <a:ext uri="{FF2B5EF4-FFF2-40B4-BE49-F238E27FC236}">
                <a16:creationId xmlns:a16="http://schemas.microsoft.com/office/drawing/2014/main" id="{8E86C3FC-7D89-4799-84F7-60ABCCAF9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5583" y="803818"/>
            <a:ext cx="869004" cy="869004"/>
          </a:xfrm>
          <a:prstGeom prst="rect">
            <a:avLst/>
          </a:prstGeom>
        </p:spPr>
      </p:pic>
    </p:spTree>
    <p:extLst>
      <p:ext uri="{BB962C8B-B14F-4D97-AF65-F5344CB8AC3E}">
        <p14:creationId xmlns:p14="http://schemas.microsoft.com/office/powerpoint/2010/main" val="28287280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70C0-65FB-4F84-BEFC-4FD33AE08447}"/>
              </a:ext>
            </a:extLst>
          </p:cNvPr>
          <p:cNvSpPr>
            <a:spLocks noGrp="1"/>
          </p:cNvSpPr>
          <p:nvPr>
            <p:ph type="title"/>
          </p:nvPr>
        </p:nvSpPr>
        <p:spPr>
          <a:xfrm>
            <a:off x="1154955" y="973668"/>
            <a:ext cx="7729642" cy="706964"/>
          </a:xfrm>
        </p:spPr>
        <p:txBody>
          <a:bodyPr/>
          <a:lstStyle/>
          <a:p>
            <a:r>
              <a:rPr lang="en-US" sz="2800" dirty="0">
                <a:latin typeface="Comic Sans MS" panose="030F0702030302020204" pitchFamily="66" charset="0"/>
              </a:rPr>
              <a:t>Methodology – Exploratory Data Analysis.</a:t>
            </a:r>
          </a:p>
        </p:txBody>
      </p:sp>
      <p:sp>
        <p:nvSpPr>
          <p:cNvPr id="3" name="Content Placeholder 2">
            <a:extLst>
              <a:ext uri="{FF2B5EF4-FFF2-40B4-BE49-F238E27FC236}">
                <a16:creationId xmlns:a16="http://schemas.microsoft.com/office/drawing/2014/main" id="{56469129-7E2B-4BB1-B96A-5C08B621834F}"/>
              </a:ext>
            </a:extLst>
          </p:cNvPr>
          <p:cNvSpPr>
            <a:spLocks noGrp="1"/>
          </p:cNvSpPr>
          <p:nvPr>
            <p:ph idx="1"/>
          </p:nvPr>
        </p:nvSpPr>
        <p:spPr>
          <a:xfrm>
            <a:off x="1154955" y="2603500"/>
            <a:ext cx="9798390" cy="3416300"/>
          </a:xfrm>
        </p:spPr>
        <p:txBody>
          <a:bodyPr numCol="1">
            <a:normAutofit/>
          </a:bodyPr>
          <a:lstStyle/>
          <a:p>
            <a:pPr>
              <a:buFont typeface="Wingdings" panose="05000000000000000000" pitchFamily="2" charset="2"/>
              <a:buChar char="ü"/>
            </a:pPr>
            <a:r>
              <a:rPr lang="en-US" sz="2800" dirty="0">
                <a:solidFill>
                  <a:schemeClr val="accent1"/>
                </a:solidFill>
                <a:latin typeface="Comic Sans MS" panose="030F0702030302020204" pitchFamily="66" charset="0"/>
              </a:rPr>
              <a:t>Conducted summary statistics to understand the data better.</a:t>
            </a:r>
          </a:p>
          <a:p>
            <a:pPr>
              <a:buFont typeface="Wingdings" panose="05000000000000000000" pitchFamily="2" charset="2"/>
              <a:buChar char="ü"/>
            </a:pPr>
            <a:r>
              <a:rPr lang="en-US" sz="2800" dirty="0">
                <a:solidFill>
                  <a:schemeClr val="accent1"/>
                </a:solidFill>
                <a:latin typeface="Comic Sans MS" panose="030F0702030302020204" pitchFamily="66" charset="0"/>
              </a:rPr>
              <a:t>Examined relationships among the various tables given. E.g. tables for Australia, Germany, Nigeria, USA, Japan, Geo, Products and Manufacturers.</a:t>
            </a:r>
          </a:p>
          <a:p>
            <a:pPr>
              <a:buFont typeface="Wingdings" panose="05000000000000000000" pitchFamily="2" charset="2"/>
              <a:buChar char="ü"/>
            </a:pPr>
            <a:r>
              <a:rPr lang="en-US" sz="2800" dirty="0">
                <a:solidFill>
                  <a:schemeClr val="accent1"/>
                </a:solidFill>
                <a:latin typeface="Comic Sans MS" panose="030F0702030302020204" pitchFamily="66" charset="0"/>
              </a:rPr>
              <a:t>Joined the related tables above by appending them together for a seamless analysis.</a:t>
            </a:r>
          </a:p>
          <a:p>
            <a:pPr marL="0" indent="0">
              <a:buNone/>
            </a:pPr>
            <a:endParaRPr lang="en-US" sz="2800" dirty="0">
              <a:solidFill>
                <a:schemeClr val="accent1"/>
              </a:solidFill>
              <a:latin typeface="Comic Sans MS" panose="030F0702030302020204" pitchFamily="66" charset="0"/>
            </a:endParaRPr>
          </a:p>
          <a:p>
            <a:pPr>
              <a:buFont typeface="Wingdings" panose="05000000000000000000" pitchFamily="2" charset="2"/>
              <a:buChar char="ü"/>
            </a:pPr>
            <a:endParaRPr lang="en-US" sz="2800" dirty="0">
              <a:solidFill>
                <a:schemeClr val="accent1"/>
              </a:solidFill>
              <a:latin typeface="Comic Sans MS" panose="030F0702030302020204" pitchFamily="66" charset="0"/>
            </a:endParaRPr>
          </a:p>
          <a:p>
            <a:pPr>
              <a:buFont typeface="Wingdings" panose="05000000000000000000" pitchFamily="2" charset="2"/>
              <a:buChar char="ü"/>
            </a:pPr>
            <a:endParaRPr lang="en-US" sz="2800" dirty="0">
              <a:solidFill>
                <a:schemeClr val="accent1"/>
              </a:solidFill>
              <a:latin typeface="Comic Sans MS" panose="030F0702030302020204" pitchFamily="66" charset="0"/>
            </a:endParaRPr>
          </a:p>
          <a:p>
            <a:pPr>
              <a:buFont typeface="Wingdings" panose="05000000000000000000" pitchFamily="2" charset="2"/>
              <a:buChar char="ü"/>
            </a:pPr>
            <a:endParaRPr lang="en-US" sz="2800" dirty="0">
              <a:solidFill>
                <a:schemeClr val="accent1"/>
              </a:solidFill>
              <a:latin typeface="Comic Sans MS" panose="030F0702030302020204" pitchFamily="66" charset="0"/>
            </a:endParaRPr>
          </a:p>
          <a:p>
            <a:pPr>
              <a:buFont typeface="Wingdings" panose="05000000000000000000" pitchFamily="2" charset="2"/>
              <a:buChar char="ü"/>
            </a:pPr>
            <a:endParaRPr lang="en-US" sz="2800" dirty="0">
              <a:solidFill>
                <a:schemeClr val="accent1"/>
              </a:solidFill>
              <a:latin typeface="Comic Sans MS" panose="030F0702030302020204" pitchFamily="66" charset="0"/>
            </a:endParaRPr>
          </a:p>
        </p:txBody>
      </p:sp>
      <p:pic>
        <p:nvPicPr>
          <p:cNvPr id="6" name="Picture 5">
            <a:extLst>
              <a:ext uri="{FF2B5EF4-FFF2-40B4-BE49-F238E27FC236}">
                <a16:creationId xmlns:a16="http://schemas.microsoft.com/office/drawing/2014/main" id="{F3908E94-FB3C-4DEB-94E6-980141E1DD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3370" y="855132"/>
            <a:ext cx="825500" cy="825500"/>
          </a:xfrm>
          <a:prstGeom prst="rect">
            <a:avLst/>
          </a:prstGeom>
        </p:spPr>
      </p:pic>
    </p:spTree>
    <p:extLst>
      <p:ext uri="{BB962C8B-B14F-4D97-AF65-F5344CB8AC3E}">
        <p14:creationId xmlns:p14="http://schemas.microsoft.com/office/powerpoint/2010/main" val="11123877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70C0-65FB-4F84-BEFC-4FD33AE08447}"/>
              </a:ext>
            </a:extLst>
          </p:cNvPr>
          <p:cNvSpPr>
            <a:spLocks noGrp="1"/>
          </p:cNvSpPr>
          <p:nvPr>
            <p:ph type="title"/>
          </p:nvPr>
        </p:nvSpPr>
        <p:spPr>
          <a:xfrm>
            <a:off x="1154955" y="973668"/>
            <a:ext cx="7729642" cy="706964"/>
          </a:xfrm>
        </p:spPr>
        <p:txBody>
          <a:bodyPr/>
          <a:lstStyle/>
          <a:p>
            <a:r>
              <a:rPr lang="en-US" sz="2800" dirty="0">
                <a:latin typeface="Comic Sans MS" panose="030F0702030302020204" pitchFamily="66" charset="0"/>
              </a:rPr>
              <a:t>Methodology – Visualization and Insight.</a:t>
            </a:r>
          </a:p>
        </p:txBody>
      </p:sp>
      <p:sp>
        <p:nvSpPr>
          <p:cNvPr id="3" name="Content Placeholder 2">
            <a:extLst>
              <a:ext uri="{FF2B5EF4-FFF2-40B4-BE49-F238E27FC236}">
                <a16:creationId xmlns:a16="http://schemas.microsoft.com/office/drawing/2014/main" id="{56469129-7E2B-4BB1-B96A-5C08B621834F}"/>
              </a:ext>
            </a:extLst>
          </p:cNvPr>
          <p:cNvSpPr>
            <a:spLocks noGrp="1"/>
          </p:cNvSpPr>
          <p:nvPr>
            <p:ph idx="1"/>
          </p:nvPr>
        </p:nvSpPr>
        <p:spPr>
          <a:xfrm>
            <a:off x="1154955" y="2603500"/>
            <a:ext cx="9798390" cy="3416300"/>
          </a:xfrm>
        </p:spPr>
        <p:txBody>
          <a:bodyPr numCol="1">
            <a:normAutofit fontScale="70000" lnSpcReduction="20000"/>
          </a:bodyPr>
          <a:lstStyle/>
          <a:p>
            <a:pPr algn="just">
              <a:lnSpc>
                <a:spcPct val="160000"/>
              </a:lnSpc>
              <a:buFont typeface="Wingdings" panose="05000000000000000000" pitchFamily="2" charset="2"/>
              <a:buChar char="ü"/>
            </a:pPr>
            <a:r>
              <a:rPr lang="en-US" sz="2800" dirty="0">
                <a:solidFill>
                  <a:schemeClr val="accent1"/>
                </a:solidFill>
                <a:latin typeface="Comic Sans MS" panose="030F0702030302020204" pitchFamily="66" charset="0"/>
              </a:rPr>
              <a:t>Calculated measures to identify the various key performance indicators generated from the dataset.</a:t>
            </a:r>
            <a:endParaRPr lang="en-US" sz="2400" dirty="0">
              <a:solidFill>
                <a:schemeClr val="accent1"/>
              </a:solidFill>
              <a:latin typeface="Comic Sans MS" panose="030F0702030302020204" pitchFamily="66" charset="0"/>
            </a:endParaRPr>
          </a:p>
          <a:p>
            <a:pPr algn="just">
              <a:lnSpc>
                <a:spcPct val="160000"/>
              </a:lnSpc>
              <a:buFont typeface="Wingdings" panose="05000000000000000000" pitchFamily="2" charset="2"/>
              <a:buChar char="ü"/>
            </a:pPr>
            <a:r>
              <a:rPr lang="en-US" sz="2800" dirty="0">
                <a:solidFill>
                  <a:schemeClr val="accent1"/>
                </a:solidFill>
                <a:latin typeface="Comic Sans MS" panose="030F0702030302020204" pitchFamily="66" charset="0"/>
              </a:rPr>
              <a:t>Developed visuals for my dashboard showing the revenue trend by year and month, total revenue by category, total revenue by country, top 5 manufacturers, </a:t>
            </a:r>
            <a:r>
              <a:rPr lang="en-US" sz="2800" dirty="0" err="1">
                <a:solidFill>
                  <a:schemeClr val="accent1"/>
                </a:solidFill>
                <a:latin typeface="Comic Sans MS" panose="030F0702030302020204" pitchFamily="66" charset="0"/>
              </a:rPr>
              <a:t>e.t.c</a:t>
            </a:r>
            <a:r>
              <a:rPr lang="en-US" sz="2800" dirty="0">
                <a:solidFill>
                  <a:schemeClr val="accent1"/>
                </a:solidFill>
                <a:latin typeface="Comic Sans MS" panose="030F0702030302020204" pitchFamily="66" charset="0"/>
              </a:rPr>
              <a:t>.</a:t>
            </a:r>
          </a:p>
          <a:p>
            <a:pPr algn="just">
              <a:lnSpc>
                <a:spcPct val="160000"/>
              </a:lnSpc>
              <a:buFont typeface="Wingdings" panose="05000000000000000000" pitchFamily="2" charset="2"/>
              <a:buChar char="ü"/>
            </a:pPr>
            <a:r>
              <a:rPr lang="en-GB" sz="2800" dirty="0">
                <a:solidFill>
                  <a:schemeClr val="accent1"/>
                </a:solidFill>
                <a:latin typeface="Comic Sans MS" panose="030F0702030302020204" pitchFamily="66" charset="0"/>
              </a:rPr>
              <a:t>Highlighted patterns using percentages and segment comparisons to uncover the highest sales revenue.</a:t>
            </a:r>
            <a:endParaRPr lang="en-US" sz="2800" dirty="0">
              <a:solidFill>
                <a:schemeClr val="accent1"/>
              </a:solidFill>
              <a:latin typeface="Comic Sans MS" panose="030F0702030302020204" pitchFamily="66" charset="0"/>
            </a:endParaRPr>
          </a:p>
          <a:p>
            <a:pPr marL="0" indent="0" algn="just">
              <a:lnSpc>
                <a:spcPct val="160000"/>
              </a:lnSpc>
              <a:buNone/>
            </a:pPr>
            <a:endParaRPr lang="en-US" sz="2800" dirty="0">
              <a:solidFill>
                <a:schemeClr val="accent1"/>
              </a:solidFill>
              <a:latin typeface="Comic Sans MS" panose="030F0702030302020204" pitchFamily="66" charset="0"/>
            </a:endParaRPr>
          </a:p>
          <a:p>
            <a:pPr algn="just">
              <a:lnSpc>
                <a:spcPct val="160000"/>
              </a:lnSpc>
              <a:buFont typeface="Wingdings" panose="05000000000000000000" pitchFamily="2" charset="2"/>
              <a:buChar char="ü"/>
            </a:pPr>
            <a:endParaRPr lang="en-US" sz="2800" dirty="0">
              <a:solidFill>
                <a:schemeClr val="accent1"/>
              </a:solidFill>
              <a:latin typeface="Comic Sans MS" panose="030F0702030302020204" pitchFamily="66" charset="0"/>
            </a:endParaRPr>
          </a:p>
          <a:p>
            <a:pPr algn="just">
              <a:lnSpc>
                <a:spcPct val="160000"/>
              </a:lnSpc>
              <a:buFont typeface="Wingdings" panose="05000000000000000000" pitchFamily="2" charset="2"/>
              <a:buChar char="ü"/>
            </a:pPr>
            <a:endParaRPr lang="en-US" sz="2800" dirty="0">
              <a:solidFill>
                <a:schemeClr val="accent1"/>
              </a:solidFill>
              <a:latin typeface="Comic Sans MS" panose="030F0702030302020204" pitchFamily="66" charset="0"/>
            </a:endParaRPr>
          </a:p>
          <a:p>
            <a:pPr algn="just">
              <a:lnSpc>
                <a:spcPct val="160000"/>
              </a:lnSpc>
              <a:buFont typeface="Wingdings" panose="05000000000000000000" pitchFamily="2" charset="2"/>
              <a:buChar char="ü"/>
            </a:pPr>
            <a:endParaRPr lang="en-US" sz="2800" dirty="0">
              <a:solidFill>
                <a:schemeClr val="accent1"/>
              </a:solidFill>
              <a:latin typeface="Comic Sans MS" panose="030F0702030302020204" pitchFamily="66" charset="0"/>
            </a:endParaRPr>
          </a:p>
          <a:p>
            <a:pPr algn="just">
              <a:lnSpc>
                <a:spcPct val="160000"/>
              </a:lnSpc>
              <a:buFont typeface="Wingdings" panose="05000000000000000000" pitchFamily="2" charset="2"/>
              <a:buChar char="ü"/>
            </a:pPr>
            <a:endParaRPr lang="en-US" sz="2800" dirty="0">
              <a:solidFill>
                <a:schemeClr val="accent1"/>
              </a:solidFill>
              <a:latin typeface="Comic Sans MS" panose="030F0702030302020204" pitchFamily="66" charset="0"/>
            </a:endParaRPr>
          </a:p>
        </p:txBody>
      </p:sp>
      <p:pic>
        <p:nvPicPr>
          <p:cNvPr id="5" name="Picture 4">
            <a:extLst>
              <a:ext uri="{FF2B5EF4-FFF2-40B4-BE49-F238E27FC236}">
                <a16:creationId xmlns:a16="http://schemas.microsoft.com/office/drawing/2014/main" id="{671F6E10-84BE-4906-A009-3DFFA89801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512" y="819733"/>
            <a:ext cx="964660" cy="964660"/>
          </a:xfrm>
          <a:prstGeom prst="rect">
            <a:avLst/>
          </a:prstGeom>
        </p:spPr>
      </p:pic>
    </p:spTree>
    <p:extLst>
      <p:ext uri="{BB962C8B-B14F-4D97-AF65-F5344CB8AC3E}">
        <p14:creationId xmlns:p14="http://schemas.microsoft.com/office/powerpoint/2010/main" val="12604561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Total Revenue.</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1070999" y="2603500"/>
            <a:ext cx="4917051" cy="3416300"/>
          </a:xfrm>
        </p:spPr>
        <p:txBody>
          <a:bodyPr>
            <a:normAutofit/>
          </a:bodyPr>
          <a:lstStyle/>
          <a:p>
            <a:pPr marL="0" indent="0" algn="just">
              <a:lnSpc>
                <a:spcPct val="150000"/>
              </a:lnSpc>
              <a:buNone/>
            </a:pPr>
            <a:r>
              <a:rPr lang="en-US" sz="2000" dirty="0">
                <a:solidFill>
                  <a:schemeClr val="accent1"/>
                </a:solidFill>
                <a:latin typeface="Comic Sans MS" panose="030F0702030302020204" pitchFamily="66" charset="0"/>
              </a:rPr>
              <a:t>In this visual, it is evident that the company has a total revenue of $2,841,026,519.10 from their sales between 2014 to 2021 across 5 countries.</a:t>
            </a:r>
          </a:p>
        </p:txBody>
      </p:sp>
      <p:pic>
        <p:nvPicPr>
          <p:cNvPr id="6" name="Picture 5">
            <a:extLst>
              <a:ext uri="{FF2B5EF4-FFF2-40B4-BE49-F238E27FC236}">
                <a16:creationId xmlns:a16="http://schemas.microsoft.com/office/drawing/2014/main" id="{0020C929-50BD-4658-9786-12F036779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3799" y="2895600"/>
            <a:ext cx="5497131" cy="1989664"/>
          </a:xfrm>
          <a:prstGeom prst="rect">
            <a:avLst/>
          </a:prstGeom>
        </p:spPr>
      </p:pic>
    </p:spTree>
    <p:extLst>
      <p:ext uri="{BB962C8B-B14F-4D97-AF65-F5344CB8AC3E}">
        <p14:creationId xmlns:p14="http://schemas.microsoft.com/office/powerpoint/2010/main" val="146377570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Total Number of Products.</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590551" y="2444750"/>
            <a:ext cx="8013700" cy="3968750"/>
          </a:xfrm>
        </p:spPr>
        <p:txBody>
          <a:bodyPr numCol="3" spcCol="540000">
            <a:normAutofit fontScale="92500"/>
          </a:bodyPr>
          <a:lstStyle/>
          <a:p>
            <a:pPr marL="0" indent="0" algn="just">
              <a:lnSpc>
                <a:spcPct val="150000"/>
              </a:lnSpc>
              <a:buNone/>
            </a:pPr>
            <a:r>
              <a:rPr lang="en-US" sz="1600" dirty="0">
                <a:solidFill>
                  <a:schemeClr val="accent1"/>
                </a:solidFill>
                <a:latin typeface="Comic Sans MS" panose="030F0702030302020204" pitchFamily="66" charset="0"/>
              </a:rPr>
              <a:t>Note that the company only sells 2,412 products with the top 10 being;</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UM – 80.</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UM – 01.</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Natura UM – 10.</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UC – 00.</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UC – 69.</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UC – 74.</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UC – 41.</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UM – 50.</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UM – 04.</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Maximus UC – 16</a:t>
            </a:r>
          </a:p>
          <a:p>
            <a:pPr marL="0" indent="0" algn="just">
              <a:lnSpc>
                <a:spcPct val="150000"/>
              </a:lnSpc>
              <a:buNone/>
            </a:pPr>
            <a:r>
              <a:rPr lang="en-US" sz="1600" dirty="0">
                <a:solidFill>
                  <a:schemeClr val="accent1"/>
                </a:solidFill>
                <a:latin typeface="Comic Sans MS" panose="030F0702030302020204" pitchFamily="66" charset="0"/>
              </a:rPr>
              <a:t>And the bottom 10 being;</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Natura UR – 36.</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Natura UR – 30.</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Natura UR – 20.</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UE – 18.</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Natura YY – 22.</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YY – 07.</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UR – 23.</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UR – 16.</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UR – 17</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Aliqui</a:t>
            </a:r>
            <a:r>
              <a:rPr lang="en-US" sz="1600" dirty="0">
                <a:solidFill>
                  <a:schemeClr val="accent1"/>
                </a:solidFill>
                <a:latin typeface="Comic Sans MS" panose="030F0702030302020204" pitchFamily="66" charset="0"/>
              </a:rPr>
              <a:t> MA – 14.</a:t>
            </a:r>
          </a:p>
        </p:txBody>
      </p:sp>
      <p:pic>
        <p:nvPicPr>
          <p:cNvPr id="5" name="Picture 4">
            <a:extLst>
              <a:ext uri="{FF2B5EF4-FFF2-40B4-BE49-F238E27FC236}">
                <a16:creationId xmlns:a16="http://schemas.microsoft.com/office/drawing/2014/main" id="{6A66C615-1704-4837-832A-C2F142B66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9977" y="3524250"/>
            <a:ext cx="3667235" cy="977930"/>
          </a:xfrm>
          <a:prstGeom prst="rect">
            <a:avLst/>
          </a:prstGeom>
        </p:spPr>
      </p:pic>
    </p:spTree>
    <p:extLst>
      <p:ext uri="{BB962C8B-B14F-4D97-AF65-F5344CB8AC3E}">
        <p14:creationId xmlns:p14="http://schemas.microsoft.com/office/powerpoint/2010/main" val="420798397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Total Number of Manufacturers.</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590551" y="2444750"/>
            <a:ext cx="8013700" cy="3968750"/>
          </a:xfrm>
        </p:spPr>
        <p:txBody>
          <a:bodyPr numCol="2" spcCol="540000">
            <a:normAutofit/>
          </a:bodyPr>
          <a:lstStyle/>
          <a:p>
            <a:pPr marL="0" indent="0" algn="just">
              <a:lnSpc>
                <a:spcPct val="150000"/>
              </a:lnSpc>
              <a:buNone/>
            </a:pPr>
            <a:r>
              <a:rPr lang="en-US" sz="1600" dirty="0">
                <a:solidFill>
                  <a:schemeClr val="accent1"/>
                </a:solidFill>
                <a:latin typeface="Comic Sans MS" panose="030F0702030302020204" pitchFamily="66" charset="0"/>
              </a:rPr>
              <a:t>The company has a total of 14 manufacturers with the top 5 being;</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VanArsdel</a:t>
            </a:r>
            <a:r>
              <a:rPr lang="en-US" sz="1600" dirty="0">
                <a:solidFill>
                  <a:schemeClr val="accent1"/>
                </a:solidFill>
                <a:latin typeface="Comic Sans MS" panose="030F0702030302020204" pitchFamily="66" charset="0"/>
              </a:rPr>
              <a:t>, Ltd.</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Fabrikan</a:t>
            </a:r>
            <a:r>
              <a:rPr lang="en-US" sz="1600" dirty="0">
                <a:solidFill>
                  <a:schemeClr val="accent1"/>
                </a:solidFill>
                <a:latin typeface="Comic Sans MS" panose="030F0702030302020204" pitchFamily="66" charset="0"/>
              </a:rPr>
              <a:t>, Inc.</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Tailwind Traders.</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Wide World Importers.</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Nod Publishers.</a:t>
            </a:r>
          </a:p>
          <a:p>
            <a:pPr marL="0" indent="0" algn="just">
              <a:lnSpc>
                <a:spcPct val="150000"/>
              </a:lnSpc>
              <a:buNone/>
            </a:pPr>
            <a:endParaRPr lang="en-US" sz="1600" dirty="0">
              <a:solidFill>
                <a:schemeClr val="accent1"/>
              </a:solidFill>
              <a:latin typeface="Comic Sans MS" panose="030F0702030302020204" pitchFamily="66" charset="0"/>
            </a:endParaRPr>
          </a:p>
          <a:p>
            <a:pPr marL="0" indent="0" algn="just">
              <a:lnSpc>
                <a:spcPct val="150000"/>
              </a:lnSpc>
              <a:buNone/>
            </a:pPr>
            <a:r>
              <a:rPr lang="en-US" sz="1600" dirty="0">
                <a:solidFill>
                  <a:schemeClr val="accent1"/>
                </a:solidFill>
                <a:latin typeface="Comic Sans MS" panose="030F0702030302020204" pitchFamily="66" charset="0"/>
              </a:rPr>
              <a:t>And the bottom 5 being;</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Adatum</a:t>
            </a:r>
            <a:r>
              <a:rPr lang="en-US" sz="1600" dirty="0">
                <a:solidFill>
                  <a:schemeClr val="accent1"/>
                </a:solidFill>
                <a:latin typeface="Comic Sans MS" panose="030F0702030302020204" pitchFamily="66" charset="0"/>
              </a:rPr>
              <a:t> Corporation.</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First Up Consultants.</a:t>
            </a:r>
          </a:p>
          <a:p>
            <a:pPr algn="just">
              <a:lnSpc>
                <a:spcPct val="150000"/>
              </a:lnSpc>
              <a:buFont typeface="Wingdings" panose="05000000000000000000" pitchFamily="2" charset="2"/>
              <a:buChar char="§"/>
            </a:pPr>
            <a:r>
              <a:rPr lang="en-US" sz="1600" dirty="0" err="1">
                <a:solidFill>
                  <a:schemeClr val="accent1"/>
                </a:solidFill>
                <a:latin typeface="Comic Sans MS" panose="030F0702030302020204" pitchFamily="66" charset="0"/>
              </a:rPr>
              <a:t>Proseware</a:t>
            </a:r>
            <a:r>
              <a:rPr lang="en-US" sz="1600" dirty="0">
                <a:solidFill>
                  <a:schemeClr val="accent1"/>
                </a:solidFill>
                <a:latin typeface="Comic Sans MS" panose="030F0702030302020204" pitchFamily="66" charset="0"/>
              </a:rPr>
              <a:t>, Inc.</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Lucerne Publishing.</a:t>
            </a:r>
          </a:p>
          <a:p>
            <a:pPr algn="just">
              <a:lnSpc>
                <a:spcPct val="150000"/>
              </a:lnSpc>
              <a:buFont typeface="Wingdings" panose="05000000000000000000" pitchFamily="2" charset="2"/>
              <a:buChar char="§"/>
            </a:pPr>
            <a:r>
              <a:rPr lang="en-US" sz="1600" dirty="0">
                <a:solidFill>
                  <a:schemeClr val="accent1"/>
                </a:solidFill>
                <a:latin typeface="Comic Sans MS" panose="030F0702030302020204" pitchFamily="66" charset="0"/>
              </a:rPr>
              <a:t>Consolidated Messenger.</a:t>
            </a:r>
          </a:p>
        </p:txBody>
      </p:sp>
      <p:pic>
        <p:nvPicPr>
          <p:cNvPr id="6" name="Picture 5">
            <a:extLst>
              <a:ext uri="{FF2B5EF4-FFF2-40B4-BE49-F238E27FC236}">
                <a16:creationId xmlns:a16="http://schemas.microsoft.com/office/drawing/2014/main" id="{D0108752-21D3-458E-A229-C735CC969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7494" y="3429000"/>
            <a:ext cx="3717746" cy="1400189"/>
          </a:xfrm>
          <a:prstGeom prst="rect">
            <a:avLst/>
          </a:prstGeom>
        </p:spPr>
      </p:pic>
    </p:spTree>
    <p:extLst>
      <p:ext uri="{BB962C8B-B14F-4D97-AF65-F5344CB8AC3E}">
        <p14:creationId xmlns:p14="http://schemas.microsoft.com/office/powerpoint/2010/main" val="266730785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Percentage of Urban Revenue.</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590551" y="2444750"/>
            <a:ext cx="6896099" cy="3968750"/>
          </a:xfrm>
        </p:spPr>
        <p:txBody>
          <a:bodyPr numCol="1" spcCol="540000">
            <a:normAutofit/>
          </a:bodyPr>
          <a:lstStyle/>
          <a:p>
            <a:pPr marL="0" indent="0" algn="just">
              <a:lnSpc>
                <a:spcPct val="150000"/>
              </a:lnSpc>
              <a:buNone/>
            </a:pPr>
            <a:r>
              <a:rPr lang="en-US" sz="2000" dirty="0">
                <a:solidFill>
                  <a:schemeClr val="accent1"/>
                </a:solidFill>
                <a:latin typeface="Comic Sans MS" panose="030F0702030302020204" pitchFamily="66" charset="0"/>
              </a:rPr>
              <a:t>From this visual, we can deduce that from the categories where sales are made across the countries, the urban generated a total of 79.30% of the revenue. This implies that the sales are the highest in the urban region. So, in order to have more sales, the other categories, </a:t>
            </a:r>
            <a:r>
              <a:rPr lang="en-US" sz="2000" dirty="0" err="1">
                <a:solidFill>
                  <a:schemeClr val="accent1"/>
                </a:solidFill>
                <a:latin typeface="Comic Sans MS" panose="030F0702030302020204" pitchFamily="66" charset="0"/>
              </a:rPr>
              <a:t>i.e</a:t>
            </a:r>
            <a:r>
              <a:rPr lang="en-US" sz="2000" dirty="0">
                <a:solidFill>
                  <a:schemeClr val="accent1"/>
                </a:solidFill>
                <a:latin typeface="Comic Sans MS" panose="030F0702030302020204" pitchFamily="66" charset="0"/>
              </a:rPr>
              <a:t>, rural and youth should be looked into as well.</a:t>
            </a:r>
          </a:p>
        </p:txBody>
      </p:sp>
      <p:pic>
        <p:nvPicPr>
          <p:cNvPr id="5" name="Picture 4">
            <a:extLst>
              <a:ext uri="{FF2B5EF4-FFF2-40B4-BE49-F238E27FC236}">
                <a16:creationId xmlns:a16="http://schemas.microsoft.com/office/drawing/2014/main" id="{65C24053-4784-44AA-9524-451B6C9D14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6605" y="3187715"/>
            <a:ext cx="4161693" cy="1523998"/>
          </a:xfrm>
          <a:prstGeom prst="rect">
            <a:avLst/>
          </a:prstGeom>
        </p:spPr>
      </p:pic>
    </p:spTree>
    <p:extLst>
      <p:ext uri="{BB962C8B-B14F-4D97-AF65-F5344CB8AC3E}">
        <p14:creationId xmlns:p14="http://schemas.microsoft.com/office/powerpoint/2010/main" val="211593549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Total Number of Countries.</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590551" y="2444750"/>
            <a:ext cx="6896099" cy="4152900"/>
          </a:xfrm>
        </p:spPr>
        <p:txBody>
          <a:bodyPr numCol="1" spcCol="540000">
            <a:noAutofit/>
          </a:bodyPr>
          <a:lstStyle/>
          <a:p>
            <a:pPr marL="0" indent="0" algn="just">
              <a:lnSpc>
                <a:spcPct val="150000"/>
              </a:lnSpc>
              <a:buNone/>
            </a:pPr>
            <a:r>
              <a:rPr lang="en-US" sz="1600" dirty="0">
                <a:solidFill>
                  <a:schemeClr val="accent1"/>
                </a:solidFill>
                <a:latin typeface="Comic Sans MS" panose="030F0702030302020204" pitchFamily="66" charset="0"/>
              </a:rPr>
              <a:t>This chart shows that sales are only made in 5 countries which are:</a:t>
            </a:r>
          </a:p>
          <a:p>
            <a:pPr algn="just">
              <a:lnSpc>
                <a:spcPct val="150000"/>
              </a:lnSpc>
              <a:buFont typeface="Courier New" panose="02070309020205020404" pitchFamily="49" charset="0"/>
              <a:buChar char="o"/>
            </a:pPr>
            <a:r>
              <a:rPr lang="en-US" sz="1600" dirty="0">
                <a:solidFill>
                  <a:schemeClr val="accent1"/>
                </a:solidFill>
                <a:latin typeface="Comic Sans MS" panose="030F0702030302020204" pitchFamily="66" charset="0"/>
              </a:rPr>
              <a:t>Australia.</a:t>
            </a:r>
          </a:p>
          <a:p>
            <a:pPr algn="just">
              <a:lnSpc>
                <a:spcPct val="150000"/>
              </a:lnSpc>
              <a:buFont typeface="Courier New" panose="02070309020205020404" pitchFamily="49" charset="0"/>
              <a:buChar char="o"/>
            </a:pPr>
            <a:r>
              <a:rPr lang="en-US" sz="1600" dirty="0">
                <a:solidFill>
                  <a:schemeClr val="accent1"/>
                </a:solidFill>
                <a:latin typeface="Comic Sans MS" panose="030F0702030302020204" pitchFamily="66" charset="0"/>
              </a:rPr>
              <a:t>Germany.</a:t>
            </a:r>
          </a:p>
          <a:p>
            <a:pPr algn="just">
              <a:lnSpc>
                <a:spcPct val="150000"/>
              </a:lnSpc>
              <a:buFont typeface="Courier New" panose="02070309020205020404" pitchFamily="49" charset="0"/>
              <a:buChar char="o"/>
            </a:pPr>
            <a:r>
              <a:rPr lang="en-US" sz="1600" dirty="0">
                <a:solidFill>
                  <a:schemeClr val="accent1"/>
                </a:solidFill>
                <a:latin typeface="Comic Sans MS" panose="030F0702030302020204" pitchFamily="66" charset="0"/>
              </a:rPr>
              <a:t>Nigeria.</a:t>
            </a:r>
          </a:p>
          <a:p>
            <a:pPr algn="just">
              <a:lnSpc>
                <a:spcPct val="150000"/>
              </a:lnSpc>
              <a:buFont typeface="Courier New" panose="02070309020205020404" pitchFamily="49" charset="0"/>
              <a:buChar char="o"/>
            </a:pPr>
            <a:r>
              <a:rPr lang="en-US" sz="1600" dirty="0">
                <a:solidFill>
                  <a:schemeClr val="accent1"/>
                </a:solidFill>
                <a:latin typeface="Comic Sans MS" panose="030F0702030302020204" pitchFamily="66" charset="0"/>
              </a:rPr>
              <a:t>Japan.</a:t>
            </a:r>
          </a:p>
          <a:p>
            <a:pPr algn="just">
              <a:lnSpc>
                <a:spcPct val="150000"/>
              </a:lnSpc>
              <a:buFont typeface="Courier New" panose="02070309020205020404" pitchFamily="49" charset="0"/>
              <a:buChar char="o"/>
            </a:pPr>
            <a:r>
              <a:rPr lang="en-US" sz="1600" dirty="0">
                <a:solidFill>
                  <a:schemeClr val="accent1"/>
                </a:solidFill>
                <a:latin typeface="Comic Sans MS" panose="030F0702030302020204" pitchFamily="66" charset="0"/>
              </a:rPr>
              <a:t>USA. </a:t>
            </a:r>
          </a:p>
          <a:p>
            <a:pPr marL="0" indent="0" algn="just">
              <a:lnSpc>
                <a:spcPct val="150000"/>
              </a:lnSpc>
              <a:buNone/>
            </a:pPr>
            <a:r>
              <a:rPr lang="en-US" sz="1600" dirty="0">
                <a:solidFill>
                  <a:schemeClr val="accent1"/>
                </a:solidFill>
                <a:latin typeface="Comic Sans MS" panose="030F0702030302020204" pitchFamily="66" charset="0"/>
              </a:rPr>
              <a:t>This means that, if we want to have a wider reach and make more sales, we should work on expanding our network and market to other countries of the world.</a:t>
            </a:r>
          </a:p>
        </p:txBody>
      </p:sp>
      <p:pic>
        <p:nvPicPr>
          <p:cNvPr id="6" name="Picture 5">
            <a:extLst>
              <a:ext uri="{FF2B5EF4-FFF2-40B4-BE49-F238E27FC236}">
                <a16:creationId xmlns:a16="http://schemas.microsoft.com/office/drawing/2014/main" id="{FA37625A-DD98-4F9D-8626-5099F8AFEE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9803" y="3302000"/>
            <a:ext cx="4183164" cy="1460500"/>
          </a:xfrm>
          <a:prstGeom prst="rect">
            <a:avLst/>
          </a:prstGeom>
        </p:spPr>
      </p:pic>
    </p:spTree>
    <p:extLst>
      <p:ext uri="{BB962C8B-B14F-4D97-AF65-F5344CB8AC3E}">
        <p14:creationId xmlns:p14="http://schemas.microsoft.com/office/powerpoint/2010/main" val="235863341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CC33-FB72-4F7C-B699-6FAC9500070B}"/>
              </a:ext>
            </a:extLst>
          </p:cNvPr>
          <p:cNvSpPr>
            <a:spLocks noGrp="1"/>
          </p:cNvSpPr>
          <p:nvPr>
            <p:ph type="title"/>
          </p:nvPr>
        </p:nvSpPr>
        <p:spPr/>
        <p:txBody>
          <a:bodyPr/>
          <a:lstStyle/>
          <a:p>
            <a:r>
              <a:rPr lang="en-US" dirty="0">
                <a:latin typeface="Comic Sans MS" panose="030F0702030302020204" pitchFamily="66" charset="0"/>
              </a:rPr>
              <a:t>Total Number of Cities.</a:t>
            </a:r>
          </a:p>
        </p:txBody>
      </p:sp>
      <p:sp>
        <p:nvSpPr>
          <p:cNvPr id="3" name="Content Placeholder 2">
            <a:extLst>
              <a:ext uri="{FF2B5EF4-FFF2-40B4-BE49-F238E27FC236}">
                <a16:creationId xmlns:a16="http://schemas.microsoft.com/office/drawing/2014/main" id="{C2E62D56-DC77-4CF5-B3DA-459AAC196492}"/>
              </a:ext>
            </a:extLst>
          </p:cNvPr>
          <p:cNvSpPr>
            <a:spLocks noGrp="1"/>
          </p:cNvSpPr>
          <p:nvPr>
            <p:ph idx="1"/>
          </p:nvPr>
        </p:nvSpPr>
        <p:spPr>
          <a:xfrm>
            <a:off x="590551" y="2444750"/>
            <a:ext cx="6896099" cy="3968750"/>
          </a:xfrm>
        </p:spPr>
        <p:txBody>
          <a:bodyPr numCol="1" spcCol="540000">
            <a:normAutofit/>
          </a:bodyPr>
          <a:lstStyle/>
          <a:p>
            <a:pPr marL="0" indent="0" algn="just">
              <a:lnSpc>
                <a:spcPct val="150000"/>
              </a:lnSpc>
              <a:buNone/>
            </a:pPr>
            <a:r>
              <a:rPr lang="en-US" sz="2400" dirty="0">
                <a:solidFill>
                  <a:schemeClr val="accent1"/>
                </a:solidFill>
                <a:latin typeface="Comic Sans MS" panose="030F0702030302020204" pitchFamily="66" charset="0"/>
              </a:rPr>
              <a:t>This chart shows that there is a total of 84,363 cities across the 5 countries where we make sales from. This implies that the number of cities can increase if we spread our tentacles across other countries.</a:t>
            </a:r>
          </a:p>
        </p:txBody>
      </p:sp>
      <p:pic>
        <p:nvPicPr>
          <p:cNvPr id="5" name="Picture 4">
            <a:extLst>
              <a:ext uri="{FF2B5EF4-FFF2-40B4-BE49-F238E27FC236}">
                <a16:creationId xmlns:a16="http://schemas.microsoft.com/office/drawing/2014/main" id="{FDC82BC2-F4BB-484C-A3B0-FD99BB3A8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134" y="3059938"/>
            <a:ext cx="3602466" cy="1451231"/>
          </a:xfrm>
          <a:prstGeom prst="rect">
            <a:avLst/>
          </a:prstGeom>
        </p:spPr>
      </p:pic>
    </p:spTree>
    <p:extLst>
      <p:ext uri="{BB962C8B-B14F-4D97-AF65-F5344CB8AC3E}">
        <p14:creationId xmlns:p14="http://schemas.microsoft.com/office/powerpoint/2010/main" val="121148689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2204-261B-4197-9C4A-7F209A00B1EB}"/>
              </a:ext>
            </a:extLst>
          </p:cNvPr>
          <p:cNvSpPr>
            <a:spLocks noGrp="1"/>
          </p:cNvSpPr>
          <p:nvPr>
            <p:ph type="title"/>
          </p:nvPr>
        </p:nvSpPr>
        <p:spPr/>
        <p:txBody>
          <a:bodyPr/>
          <a:lstStyle/>
          <a:p>
            <a:r>
              <a:rPr lang="en-US" dirty="0">
                <a:latin typeface="Comic Sans MS" panose="030F0702030302020204" pitchFamily="66" charset="0"/>
              </a:rPr>
              <a:t>Revenue Trend by Month and Year.</a:t>
            </a:r>
          </a:p>
        </p:txBody>
      </p:sp>
      <p:sp>
        <p:nvSpPr>
          <p:cNvPr id="9" name="Content Placeholder 8">
            <a:extLst>
              <a:ext uri="{FF2B5EF4-FFF2-40B4-BE49-F238E27FC236}">
                <a16:creationId xmlns:a16="http://schemas.microsoft.com/office/drawing/2014/main" id="{BA36D705-FEC9-4522-8965-E09167D1AA6E}"/>
              </a:ext>
            </a:extLst>
          </p:cNvPr>
          <p:cNvSpPr>
            <a:spLocks noGrp="1"/>
          </p:cNvSpPr>
          <p:nvPr>
            <p:ph idx="1"/>
          </p:nvPr>
        </p:nvSpPr>
        <p:spPr>
          <a:xfrm>
            <a:off x="203201" y="2330450"/>
            <a:ext cx="7448549" cy="4470400"/>
          </a:xfrm>
        </p:spPr>
        <p:txBody>
          <a:bodyPr numCol="2" spcCol="540000">
            <a:noAutofit/>
          </a:bodyPr>
          <a:lstStyle/>
          <a:p>
            <a:pPr marL="0" indent="0" algn="just">
              <a:lnSpc>
                <a:spcPct val="150000"/>
              </a:lnSpc>
              <a:buNone/>
            </a:pPr>
            <a:r>
              <a:rPr lang="en-US" sz="1400" dirty="0">
                <a:solidFill>
                  <a:schemeClr val="accent1"/>
                </a:solidFill>
                <a:latin typeface="Comic Sans MS" panose="030F0702030302020204" pitchFamily="66" charset="0"/>
              </a:rPr>
              <a:t>This chart shows the revenue trend by month and year with a breakdown below:</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2014, we had more sales in May with a revenue of $19,616,674.48.</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2015, we had more sales in May with a revenue of $25,595,072.61.</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2016, we had more sales in May with a revenue of $31,927,286.89.</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2017, we had more sales in April with a revenue of $34,157,371.93.</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2018, we had more sales in July with a revenue of $36,916,650.56.</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2019, we had more sales in June with a revenue of $39,947,563.96.</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2020, we had more sales in April with a revenue of $43,596,552.22.</a:t>
            </a:r>
          </a:p>
          <a:p>
            <a:pPr marL="285750" indent="-285750" algn="just">
              <a:lnSpc>
                <a:spcPct val="150000"/>
              </a:lnSpc>
              <a:buFont typeface="Arial" panose="020B0604020202020204" pitchFamily="34" charset="0"/>
              <a:buChar char="•"/>
            </a:pPr>
            <a:r>
              <a:rPr lang="en-US" sz="1400" dirty="0">
                <a:solidFill>
                  <a:schemeClr val="accent1"/>
                </a:solidFill>
                <a:latin typeface="Comic Sans MS" panose="030F0702030302020204" pitchFamily="66" charset="0"/>
              </a:rPr>
              <a:t>In 2021, we has more sales in May with a revenue of $46,575,456.69.</a:t>
            </a:r>
          </a:p>
          <a:p>
            <a:pPr marL="0" indent="0" algn="just">
              <a:lnSpc>
                <a:spcPct val="150000"/>
              </a:lnSpc>
              <a:buNone/>
            </a:pPr>
            <a:r>
              <a:rPr lang="en-US" sz="1400" dirty="0">
                <a:solidFill>
                  <a:schemeClr val="accent1"/>
                </a:solidFill>
                <a:latin typeface="Comic Sans MS" panose="030F0702030302020204" pitchFamily="66" charset="0"/>
              </a:rPr>
              <a:t>This implies that we have the most sales during the second quarter of every year, and there is a significant increase in revenue every year.</a:t>
            </a:r>
          </a:p>
          <a:p>
            <a:endParaRPr lang="en-US" sz="1400" dirty="0"/>
          </a:p>
        </p:txBody>
      </p:sp>
      <p:pic>
        <p:nvPicPr>
          <p:cNvPr id="12" name="Picture 11">
            <a:extLst>
              <a:ext uri="{FF2B5EF4-FFF2-40B4-BE49-F238E27FC236}">
                <a16:creationId xmlns:a16="http://schemas.microsoft.com/office/drawing/2014/main" id="{CB8498FB-0ABF-4C1D-97E1-B37E87DB5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101" y="2266655"/>
            <a:ext cx="3848100" cy="4464345"/>
          </a:xfrm>
          <a:prstGeom prst="rect">
            <a:avLst/>
          </a:prstGeom>
        </p:spPr>
      </p:pic>
    </p:spTree>
    <p:extLst>
      <p:ext uri="{BB962C8B-B14F-4D97-AF65-F5344CB8AC3E}">
        <p14:creationId xmlns:p14="http://schemas.microsoft.com/office/powerpoint/2010/main" val="2990173775"/>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1C0C-140B-4005-BF8E-666C32944B04}"/>
              </a:ext>
            </a:extLst>
          </p:cNvPr>
          <p:cNvSpPr>
            <a:spLocks noGrp="1"/>
          </p:cNvSpPr>
          <p:nvPr>
            <p:ph type="title"/>
          </p:nvPr>
        </p:nvSpPr>
        <p:spPr/>
        <p:txBody>
          <a:bodyPr/>
          <a:lstStyle/>
          <a:p>
            <a:r>
              <a:rPr lang="en-US" dirty="0">
                <a:latin typeface="Comic Sans MS" panose="030F0702030302020204" pitchFamily="66" charset="0"/>
              </a:rPr>
              <a:t>Top 5 Manufacturers by Revenue.</a:t>
            </a:r>
          </a:p>
        </p:txBody>
      </p:sp>
      <p:sp>
        <p:nvSpPr>
          <p:cNvPr id="3" name="Content Placeholder 2">
            <a:extLst>
              <a:ext uri="{FF2B5EF4-FFF2-40B4-BE49-F238E27FC236}">
                <a16:creationId xmlns:a16="http://schemas.microsoft.com/office/drawing/2014/main" id="{5235944C-8C3B-47BB-A175-43C0B74DEAA6}"/>
              </a:ext>
            </a:extLst>
          </p:cNvPr>
          <p:cNvSpPr>
            <a:spLocks noGrp="1"/>
          </p:cNvSpPr>
          <p:nvPr>
            <p:ph idx="1"/>
          </p:nvPr>
        </p:nvSpPr>
        <p:spPr>
          <a:xfrm>
            <a:off x="5727700" y="2355850"/>
            <a:ext cx="6343650" cy="3981450"/>
          </a:xfrm>
        </p:spPr>
        <p:txBody>
          <a:bodyPr>
            <a:normAutofit fontScale="92500" lnSpcReduction="20000"/>
          </a:bodyPr>
          <a:lstStyle/>
          <a:p>
            <a:pPr marL="0" indent="0" algn="just">
              <a:lnSpc>
                <a:spcPct val="150000"/>
              </a:lnSpc>
              <a:buNone/>
            </a:pPr>
            <a:r>
              <a:rPr lang="en-US" dirty="0">
                <a:solidFill>
                  <a:schemeClr val="accent1"/>
                </a:solidFill>
                <a:latin typeface="Comic Sans MS" panose="030F0702030302020204" pitchFamily="66" charset="0"/>
              </a:rPr>
              <a:t>In this chart, we see the top 5 manufacturers by revenue to be:</a:t>
            </a:r>
          </a:p>
          <a:p>
            <a:pPr algn="just">
              <a:lnSpc>
                <a:spcPct val="150000"/>
              </a:lnSpc>
              <a:buFont typeface="Wingdings" panose="05000000000000000000" pitchFamily="2" charset="2"/>
              <a:buChar char="Ø"/>
            </a:pPr>
            <a:r>
              <a:rPr lang="en-US" dirty="0" err="1">
                <a:solidFill>
                  <a:schemeClr val="accent1"/>
                </a:solidFill>
                <a:latin typeface="Comic Sans MS" panose="030F0702030302020204" pitchFamily="66" charset="0"/>
              </a:rPr>
              <a:t>VanArsdel</a:t>
            </a:r>
            <a:r>
              <a:rPr lang="en-US" dirty="0">
                <a:solidFill>
                  <a:schemeClr val="accent1"/>
                </a:solidFill>
                <a:latin typeface="Comic Sans MS" panose="030F0702030302020204" pitchFamily="66" charset="0"/>
              </a:rPr>
              <a:t>, Ltd - $1,253,519,112.83.</a:t>
            </a:r>
          </a:p>
          <a:p>
            <a:pPr algn="just">
              <a:lnSpc>
                <a:spcPct val="150000"/>
              </a:lnSpc>
              <a:buFont typeface="Wingdings" panose="05000000000000000000" pitchFamily="2" charset="2"/>
              <a:buChar char="Ø"/>
            </a:pPr>
            <a:r>
              <a:rPr lang="en-US" dirty="0" err="1">
                <a:solidFill>
                  <a:schemeClr val="accent1"/>
                </a:solidFill>
                <a:latin typeface="Comic Sans MS" panose="030F0702030302020204" pitchFamily="66" charset="0"/>
              </a:rPr>
              <a:t>Fabrikam</a:t>
            </a:r>
            <a:r>
              <a:rPr lang="en-US" dirty="0">
                <a:solidFill>
                  <a:schemeClr val="accent1"/>
                </a:solidFill>
                <a:latin typeface="Comic Sans MS" panose="030F0702030302020204" pitchFamily="66" charset="0"/>
              </a:rPr>
              <a:t>, Inc - $577,906,134.01.</a:t>
            </a:r>
          </a:p>
          <a:p>
            <a:pPr algn="just">
              <a:lnSpc>
                <a:spcPct val="150000"/>
              </a:lnSpc>
              <a:buFont typeface="Wingdings" panose="05000000000000000000" pitchFamily="2" charset="2"/>
              <a:buChar char="Ø"/>
            </a:pPr>
            <a:r>
              <a:rPr lang="en-US" dirty="0">
                <a:solidFill>
                  <a:schemeClr val="accent1"/>
                </a:solidFill>
                <a:latin typeface="Comic Sans MS" panose="030F0702030302020204" pitchFamily="66" charset="0"/>
              </a:rPr>
              <a:t>Tailwind Traders - $338,848,589.30.</a:t>
            </a:r>
          </a:p>
          <a:p>
            <a:pPr algn="just">
              <a:lnSpc>
                <a:spcPct val="150000"/>
              </a:lnSpc>
              <a:buFont typeface="Wingdings" panose="05000000000000000000" pitchFamily="2" charset="2"/>
              <a:buChar char="Ø"/>
            </a:pPr>
            <a:r>
              <a:rPr lang="en-US" dirty="0">
                <a:solidFill>
                  <a:schemeClr val="accent1"/>
                </a:solidFill>
                <a:latin typeface="Comic Sans MS" panose="030F0702030302020204" pitchFamily="66" charset="0"/>
              </a:rPr>
              <a:t>Wide World Importers - $257,214,019.27.</a:t>
            </a:r>
          </a:p>
          <a:p>
            <a:pPr algn="just">
              <a:lnSpc>
                <a:spcPct val="150000"/>
              </a:lnSpc>
              <a:buFont typeface="Wingdings" panose="05000000000000000000" pitchFamily="2" charset="2"/>
              <a:buChar char="Ø"/>
            </a:pPr>
            <a:r>
              <a:rPr lang="en-US" dirty="0">
                <a:solidFill>
                  <a:schemeClr val="accent1"/>
                </a:solidFill>
                <a:latin typeface="Comic Sans MS" panose="030F0702030302020204" pitchFamily="66" charset="0"/>
              </a:rPr>
              <a:t>Nod Publishers - $206,537,024.34.</a:t>
            </a:r>
          </a:p>
          <a:p>
            <a:pPr marL="0" indent="0" algn="just">
              <a:lnSpc>
                <a:spcPct val="150000"/>
              </a:lnSpc>
              <a:buNone/>
            </a:pPr>
            <a:r>
              <a:rPr lang="en-US" dirty="0">
                <a:solidFill>
                  <a:schemeClr val="accent1"/>
                </a:solidFill>
                <a:latin typeface="Comic Sans MS" panose="030F0702030302020204" pitchFamily="66" charset="0"/>
              </a:rPr>
              <a:t>It is also worthy to note that across the 8 years, </a:t>
            </a:r>
            <a:r>
              <a:rPr lang="en-US" dirty="0" err="1">
                <a:solidFill>
                  <a:schemeClr val="accent1"/>
                </a:solidFill>
                <a:latin typeface="Comic Sans MS" panose="030F0702030302020204" pitchFamily="66" charset="0"/>
              </a:rPr>
              <a:t>VanArsdel</a:t>
            </a:r>
            <a:r>
              <a:rPr lang="en-US" dirty="0">
                <a:solidFill>
                  <a:schemeClr val="accent1"/>
                </a:solidFill>
                <a:latin typeface="Comic Sans MS" panose="030F0702030302020204" pitchFamily="66" charset="0"/>
              </a:rPr>
              <a:t>, Ltd topped the chart.</a:t>
            </a:r>
          </a:p>
          <a:p>
            <a:pPr marL="0" indent="0" algn="just">
              <a:lnSpc>
                <a:spcPct val="150000"/>
              </a:lnSpc>
              <a:buNone/>
            </a:pPr>
            <a:endParaRPr lang="en-US" dirty="0">
              <a:solidFill>
                <a:schemeClr val="accent1"/>
              </a:solidFill>
              <a:latin typeface="Comic Sans MS" panose="030F0702030302020204" pitchFamily="66" charset="0"/>
            </a:endParaRPr>
          </a:p>
          <a:p>
            <a:pPr algn="just">
              <a:lnSpc>
                <a:spcPct val="150000"/>
              </a:lnSpc>
              <a:buFont typeface="Wingdings" panose="05000000000000000000" pitchFamily="2" charset="2"/>
              <a:buChar char="Ø"/>
            </a:pPr>
            <a:endParaRPr lang="en-US" dirty="0">
              <a:solidFill>
                <a:schemeClr val="accent1"/>
              </a:solidFill>
              <a:latin typeface="Comic Sans MS" panose="030F0702030302020204" pitchFamily="66" charset="0"/>
            </a:endParaRPr>
          </a:p>
        </p:txBody>
      </p:sp>
      <p:pic>
        <p:nvPicPr>
          <p:cNvPr id="5" name="Picture 4">
            <a:extLst>
              <a:ext uri="{FF2B5EF4-FFF2-40B4-BE49-F238E27FC236}">
                <a16:creationId xmlns:a16="http://schemas.microsoft.com/office/drawing/2014/main" id="{CB6C2809-043B-43F6-9F4F-C5DDDFF3C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155" y="2603500"/>
            <a:ext cx="5356638" cy="2993131"/>
          </a:xfrm>
          <a:prstGeom prst="rect">
            <a:avLst/>
          </a:prstGeom>
        </p:spPr>
      </p:pic>
    </p:spTree>
    <p:extLst>
      <p:ext uri="{BB962C8B-B14F-4D97-AF65-F5344CB8AC3E}">
        <p14:creationId xmlns:p14="http://schemas.microsoft.com/office/powerpoint/2010/main" val="5827308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9EC9-3474-40D7-A495-EBA11C89F31F}"/>
              </a:ext>
            </a:extLst>
          </p:cNvPr>
          <p:cNvSpPr>
            <a:spLocks noGrp="1"/>
          </p:cNvSpPr>
          <p:nvPr>
            <p:ph type="title"/>
          </p:nvPr>
        </p:nvSpPr>
        <p:spPr/>
        <p:txBody>
          <a:bodyPr/>
          <a:lstStyle/>
          <a:p>
            <a:r>
              <a:rPr lang="en-US" dirty="0">
                <a:latin typeface="Comic Sans MS" panose="030F0702030302020204" pitchFamily="66" charset="0"/>
              </a:rPr>
              <a:t>Top 10 Products by Revenue.</a:t>
            </a:r>
          </a:p>
        </p:txBody>
      </p:sp>
      <p:pic>
        <p:nvPicPr>
          <p:cNvPr id="5" name="Content Placeholder 4">
            <a:extLst>
              <a:ext uri="{FF2B5EF4-FFF2-40B4-BE49-F238E27FC236}">
                <a16:creationId xmlns:a16="http://schemas.microsoft.com/office/drawing/2014/main" id="{F7ACC6BB-49E9-4F86-BF7B-07FCF6BECD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5536" y="2745954"/>
            <a:ext cx="4806011" cy="2862973"/>
          </a:xfrm>
        </p:spPr>
      </p:pic>
      <p:sp>
        <p:nvSpPr>
          <p:cNvPr id="6" name="TextBox 5">
            <a:extLst>
              <a:ext uri="{FF2B5EF4-FFF2-40B4-BE49-F238E27FC236}">
                <a16:creationId xmlns:a16="http://schemas.microsoft.com/office/drawing/2014/main" id="{0E3F6D9A-B0FF-4B2C-B634-5F0678825347}"/>
              </a:ext>
            </a:extLst>
          </p:cNvPr>
          <p:cNvSpPr txBox="1"/>
          <p:nvPr/>
        </p:nvSpPr>
        <p:spPr>
          <a:xfrm>
            <a:off x="5511801" y="2305050"/>
            <a:ext cx="6239212" cy="4852803"/>
          </a:xfrm>
          <a:prstGeom prst="rect">
            <a:avLst/>
          </a:prstGeom>
          <a:noFill/>
        </p:spPr>
        <p:txBody>
          <a:bodyPr wrap="square" rtlCol="0">
            <a:spAutoFit/>
          </a:bodyPr>
          <a:lstStyle/>
          <a:p>
            <a:pPr marL="0" indent="0" algn="just">
              <a:lnSpc>
                <a:spcPct val="150000"/>
              </a:lnSpc>
              <a:buNone/>
            </a:pPr>
            <a:r>
              <a:rPr lang="en-US" sz="1600" dirty="0">
                <a:solidFill>
                  <a:schemeClr val="accent1"/>
                </a:solidFill>
                <a:latin typeface="Comic Sans MS" panose="030F0702030302020204" pitchFamily="66" charset="0"/>
              </a:rPr>
              <a:t>In this chart, we see the top 10 products by revenue to be:</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UM – 80; $87,931,342.37.</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UM – 01; $76,495,616.21.</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Natura UM - 10 - $51,436,939.27.</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UC – 00; $46,120,914.25.</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UC – 69; $45,478,414.09.</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UC – 74; $43,186,968.34.</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UC – 41; $32,970,558.08.</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UM – 50; $32,188,329.56.</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UM – 04; $31,963,980.40.</a:t>
            </a:r>
          </a:p>
          <a:p>
            <a:pPr algn="just">
              <a:lnSpc>
                <a:spcPct val="150000"/>
              </a:lnSpc>
              <a:buFont typeface="Wingdings" panose="05000000000000000000" pitchFamily="2" charset="2"/>
              <a:buChar char="Ø"/>
            </a:pPr>
            <a:r>
              <a:rPr lang="en-US" sz="1600" dirty="0">
                <a:solidFill>
                  <a:schemeClr val="accent1"/>
                </a:solidFill>
                <a:latin typeface="Comic Sans MS" panose="030F0702030302020204" pitchFamily="66" charset="0"/>
              </a:rPr>
              <a:t>  Maximus UC – 16; $31,139,348.53.</a:t>
            </a:r>
          </a:p>
          <a:p>
            <a:pPr marL="0" indent="0" algn="just">
              <a:lnSpc>
                <a:spcPct val="150000"/>
              </a:lnSpc>
              <a:buNone/>
            </a:pPr>
            <a:endParaRPr lang="en-US" sz="1600" dirty="0">
              <a:solidFill>
                <a:schemeClr val="accent1"/>
              </a:solidFill>
              <a:latin typeface="Comic Sans MS" panose="030F0702030302020204" pitchFamily="66" charset="0"/>
            </a:endParaRPr>
          </a:p>
          <a:p>
            <a:pPr algn="just">
              <a:lnSpc>
                <a:spcPct val="150000"/>
              </a:lnSpc>
              <a:buFont typeface="Wingdings" panose="05000000000000000000" pitchFamily="2" charset="2"/>
              <a:buChar char="Ø"/>
            </a:pPr>
            <a:endParaRPr lang="en-US" sz="1600" dirty="0">
              <a:solidFill>
                <a:schemeClr val="accent1"/>
              </a:solidFill>
              <a:latin typeface="Comic Sans MS" panose="030F0702030302020204" pitchFamily="66" charset="0"/>
            </a:endParaRPr>
          </a:p>
        </p:txBody>
      </p:sp>
    </p:spTree>
    <p:extLst>
      <p:ext uri="{BB962C8B-B14F-4D97-AF65-F5344CB8AC3E}">
        <p14:creationId xmlns:p14="http://schemas.microsoft.com/office/powerpoint/2010/main" val="638424951"/>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FE1B-3AEC-406D-8AB6-078661CEE8EB}"/>
              </a:ext>
            </a:extLst>
          </p:cNvPr>
          <p:cNvSpPr>
            <a:spLocks noGrp="1"/>
          </p:cNvSpPr>
          <p:nvPr>
            <p:ph type="title"/>
          </p:nvPr>
        </p:nvSpPr>
        <p:spPr/>
        <p:txBody>
          <a:bodyPr/>
          <a:lstStyle/>
          <a:p>
            <a:r>
              <a:rPr lang="en-US" dirty="0">
                <a:latin typeface="Comic Sans MS" panose="030F0702030302020204" pitchFamily="66" charset="0"/>
              </a:rPr>
              <a:t>Total Revenue by Category.</a:t>
            </a:r>
            <a:endParaRPr lang="en-US" dirty="0"/>
          </a:p>
        </p:txBody>
      </p:sp>
      <p:sp>
        <p:nvSpPr>
          <p:cNvPr id="3" name="Content Placeholder 2">
            <a:extLst>
              <a:ext uri="{FF2B5EF4-FFF2-40B4-BE49-F238E27FC236}">
                <a16:creationId xmlns:a16="http://schemas.microsoft.com/office/drawing/2014/main" id="{E06DE065-F628-468C-913D-1730C74C34C9}"/>
              </a:ext>
            </a:extLst>
          </p:cNvPr>
          <p:cNvSpPr>
            <a:spLocks noGrp="1"/>
          </p:cNvSpPr>
          <p:nvPr>
            <p:ph idx="1"/>
          </p:nvPr>
        </p:nvSpPr>
        <p:spPr>
          <a:xfrm>
            <a:off x="469900" y="2387600"/>
            <a:ext cx="7231063" cy="4069674"/>
          </a:xfrm>
        </p:spPr>
        <p:txBody>
          <a:bodyPr>
            <a:normAutofit/>
          </a:bodyPr>
          <a:lstStyle/>
          <a:p>
            <a:pPr marL="0" indent="0" algn="just">
              <a:lnSpc>
                <a:spcPct val="150000"/>
              </a:lnSpc>
              <a:buNone/>
            </a:pPr>
            <a:r>
              <a:rPr lang="en-US" sz="2400" dirty="0">
                <a:solidFill>
                  <a:schemeClr val="accent1"/>
                </a:solidFill>
                <a:latin typeface="Comic Sans MS" panose="030F0702030302020204" pitchFamily="66" charset="0"/>
              </a:rPr>
              <a:t>This chart reveals to us that among the four categories, the Urban generates more revenue of $2.25BN for the company.</a:t>
            </a:r>
          </a:p>
          <a:p>
            <a:pPr marL="0" indent="0" algn="just">
              <a:lnSpc>
                <a:spcPct val="150000"/>
              </a:lnSpc>
              <a:buNone/>
            </a:pPr>
            <a:r>
              <a:rPr lang="en-US" sz="2400" dirty="0">
                <a:solidFill>
                  <a:schemeClr val="accent1"/>
                </a:solidFill>
                <a:latin typeface="Comic Sans MS" panose="030F0702030302020204" pitchFamily="66" charset="0"/>
              </a:rPr>
              <a:t>This shows that there is a poor reach to the other categories, which we have to look into immediately.</a:t>
            </a:r>
          </a:p>
        </p:txBody>
      </p:sp>
      <p:pic>
        <p:nvPicPr>
          <p:cNvPr id="5" name="Picture 4">
            <a:extLst>
              <a:ext uri="{FF2B5EF4-FFF2-40B4-BE49-F238E27FC236}">
                <a16:creationId xmlns:a16="http://schemas.microsoft.com/office/drawing/2014/main" id="{67339A9A-BD83-4330-ACCE-A4A445E54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1121" y="2839517"/>
            <a:ext cx="4018632" cy="3165840"/>
          </a:xfrm>
          <a:prstGeom prst="rect">
            <a:avLst/>
          </a:prstGeom>
        </p:spPr>
      </p:pic>
    </p:spTree>
    <p:extLst>
      <p:ext uri="{BB962C8B-B14F-4D97-AF65-F5344CB8AC3E}">
        <p14:creationId xmlns:p14="http://schemas.microsoft.com/office/powerpoint/2010/main" val="330620926"/>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2261-C1B7-4ADA-9F17-7253720C005C}"/>
              </a:ext>
            </a:extLst>
          </p:cNvPr>
          <p:cNvSpPr>
            <a:spLocks noGrp="1"/>
          </p:cNvSpPr>
          <p:nvPr>
            <p:ph type="title"/>
          </p:nvPr>
        </p:nvSpPr>
        <p:spPr/>
        <p:txBody>
          <a:bodyPr/>
          <a:lstStyle/>
          <a:p>
            <a:r>
              <a:rPr lang="en-US" dirty="0">
                <a:latin typeface="Comic Sans MS" panose="030F0702030302020204" pitchFamily="66" charset="0"/>
              </a:rPr>
              <a:t>Total Revenue by Country.</a:t>
            </a:r>
            <a:endParaRPr lang="en-US" dirty="0"/>
          </a:p>
        </p:txBody>
      </p:sp>
      <p:sp>
        <p:nvSpPr>
          <p:cNvPr id="3" name="Content Placeholder 2">
            <a:extLst>
              <a:ext uri="{FF2B5EF4-FFF2-40B4-BE49-F238E27FC236}">
                <a16:creationId xmlns:a16="http://schemas.microsoft.com/office/drawing/2014/main" id="{C72D755C-EABF-44B8-B773-BB1862509720}"/>
              </a:ext>
            </a:extLst>
          </p:cNvPr>
          <p:cNvSpPr>
            <a:spLocks noGrp="1"/>
          </p:cNvSpPr>
          <p:nvPr>
            <p:ph idx="1"/>
          </p:nvPr>
        </p:nvSpPr>
        <p:spPr>
          <a:xfrm>
            <a:off x="4870450" y="2603500"/>
            <a:ext cx="6786563" cy="4068970"/>
          </a:xfrm>
        </p:spPr>
        <p:txBody>
          <a:bodyPr>
            <a:normAutofit/>
          </a:bodyPr>
          <a:lstStyle/>
          <a:p>
            <a:pPr marL="0" indent="0" algn="just">
              <a:lnSpc>
                <a:spcPct val="150000"/>
              </a:lnSpc>
              <a:buNone/>
            </a:pPr>
            <a:r>
              <a:rPr lang="en-US" sz="2400" dirty="0">
                <a:solidFill>
                  <a:schemeClr val="accent1"/>
                </a:solidFill>
                <a:latin typeface="Comic Sans MS" panose="030F0702030302020204" pitchFamily="66" charset="0"/>
              </a:rPr>
              <a:t>This chart tells us that USA generated more revenue of $1.70BN for the company. Note that, USA topped the chart every year.</a:t>
            </a:r>
          </a:p>
          <a:p>
            <a:pPr marL="0" indent="0" algn="just">
              <a:lnSpc>
                <a:spcPct val="150000"/>
              </a:lnSpc>
              <a:buNone/>
            </a:pPr>
            <a:r>
              <a:rPr lang="en-US" sz="2400" dirty="0">
                <a:solidFill>
                  <a:schemeClr val="accent1"/>
                </a:solidFill>
                <a:latin typeface="Comic Sans MS" panose="030F0702030302020204" pitchFamily="66" charset="0"/>
              </a:rPr>
              <a:t>This implies that we need to focus on other countries where we are already making sales and see to it that they make more sales than they have been making.</a:t>
            </a:r>
          </a:p>
        </p:txBody>
      </p:sp>
      <p:pic>
        <p:nvPicPr>
          <p:cNvPr id="5" name="Picture 4">
            <a:extLst>
              <a:ext uri="{FF2B5EF4-FFF2-40B4-BE49-F238E27FC236}">
                <a16:creationId xmlns:a16="http://schemas.microsoft.com/office/drawing/2014/main" id="{02D25BB8-775B-4E2F-8405-A2B6E501F1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754" y="2914650"/>
            <a:ext cx="4128052" cy="3056126"/>
          </a:xfrm>
          <a:prstGeom prst="rect">
            <a:avLst/>
          </a:prstGeom>
        </p:spPr>
      </p:pic>
    </p:spTree>
    <p:extLst>
      <p:ext uri="{BB962C8B-B14F-4D97-AF65-F5344CB8AC3E}">
        <p14:creationId xmlns:p14="http://schemas.microsoft.com/office/powerpoint/2010/main" val="137064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2261-C1B7-4ADA-9F17-7253720C005C}"/>
              </a:ext>
            </a:extLst>
          </p:cNvPr>
          <p:cNvSpPr>
            <a:spLocks noGrp="1"/>
          </p:cNvSpPr>
          <p:nvPr>
            <p:ph type="title"/>
          </p:nvPr>
        </p:nvSpPr>
        <p:spPr/>
        <p:txBody>
          <a:bodyPr/>
          <a:lstStyle/>
          <a:p>
            <a:r>
              <a:rPr lang="en-US" dirty="0">
                <a:latin typeface="Comic Sans MS" panose="030F0702030302020204" pitchFamily="66" charset="0"/>
              </a:rPr>
              <a:t>Total Revenue by Segment.</a:t>
            </a:r>
            <a:endParaRPr lang="en-US" dirty="0"/>
          </a:p>
        </p:txBody>
      </p:sp>
      <p:sp>
        <p:nvSpPr>
          <p:cNvPr id="3" name="Content Placeholder 2">
            <a:extLst>
              <a:ext uri="{FF2B5EF4-FFF2-40B4-BE49-F238E27FC236}">
                <a16:creationId xmlns:a16="http://schemas.microsoft.com/office/drawing/2014/main" id="{C72D755C-EABF-44B8-B773-BB1862509720}"/>
              </a:ext>
            </a:extLst>
          </p:cNvPr>
          <p:cNvSpPr>
            <a:spLocks noGrp="1"/>
          </p:cNvSpPr>
          <p:nvPr>
            <p:ph idx="1"/>
          </p:nvPr>
        </p:nvSpPr>
        <p:spPr>
          <a:xfrm>
            <a:off x="501651" y="2368550"/>
            <a:ext cx="5937250" cy="4252744"/>
          </a:xfrm>
        </p:spPr>
        <p:txBody>
          <a:bodyPr>
            <a:normAutofit fontScale="55000" lnSpcReduction="20000"/>
          </a:bodyPr>
          <a:lstStyle/>
          <a:p>
            <a:pPr marL="0" indent="0" algn="just">
              <a:lnSpc>
                <a:spcPct val="150000"/>
              </a:lnSpc>
              <a:buNone/>
            </a:pPr>
            <a:r>
              <a:rPr lang="en-US" sz="2400" dirty="0">
                <a:solidFill>
                  <a:schemeClr val="accent1"/>
                </a:solidFill>
                <a:latin typeface="Comic Sans MS" panose="030F0702030302020204" pitchFamily="66" charset="0"/>
              </a:rPr>
              <a:t>From this chart, we can see that the Convenience segment generated the highest revenue of $1,012,553,906.87.</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Moderation - $688,482,264.29.</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Extreme - $506,296,564.36.</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Productivity - $411,012,159.69.</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Select - $89,183,527.10.</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All Season - $48,220,224.95.</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Regular - $45,608,749.13.</a:t>
            </a:r>
          </a:p>
          <a:p>
            <a:pPr algn="just">
              <a:lnSpc>
                <a:spcPct val="150000"/>
              </a:lnSpc>
              <a:buFont typeface="Wingdings" panose="05000000000000000000" pitchFamily="2" charset="2"/>
              <a:buChar char="v"/>
            </a:pPr>
            <a:r>
              <a:rPr lang="en-US" sz="2400" dirty="0">
                <a:solidFill>
                  <a:schemeClr val="accent1"/>
                </a:solidFill>
                <a:latin typeface="Comic Sans MS" panose="030F0702030302020204" pitchFamily="66" charset="0"/>
              </a:rPr>
              <a:t>Youth - $39,669,122.70.</a:t>
            </a:r>
          </a:p>
          <a:p>
            <a:pPr marL="0" indent="0" algn="just">
              <a:lnSpc>
                <a:spcPct val="150000"/>
              </a:lnSpc>
              <a:buNone/>
            </a:pPr>
            <a:r>
              <a:rPr lang="en-US" sz="2400" dirty="0">
                <a:solidFill>
                  <a:schemeClr val="accent1"/>
                </a:solidFill>
                <a:latin typeface="Comic Sans MS" panose="030F0702030302020204" pitchFamily="66" charset="0"/>
              </a:rPr>
              <a:t>Across the years, convenience topped the chart as the segment with the highest revenue.</a:t>
            </a:r>
          </a:p>
        </p:txBody>
      </p:sp>
      <p:pic>
        <p:nvPicPr>
          <p:cNvPr id="6" name="Picture 5">
            <a:extLst>
              <a:ext uri="{FF2B5EF4-FFF2-40B4-BE49-F238E27FC236}">
                <a16:creationId xmlns:a16="http://schemas.microsoft.com/office/drawing/2014/main" id="{BA7C48ED-BF92-4139-B324-DECD2E22F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0999" y="2889250"/>
            <a:ext cx="5156199" cy="2844800"/>
          </a:xfrm>
          <a:prstGeom prst="rect">
            <a:avLst/>
          </a:prstGeom>
        </p:spPr>
      </p:pic>
    </p:spTree>
    <p:extLst>
      <p:ext uri="{BB962C8B-B14F-4D97-AF65-F5344CB8AC3E}">
        <p14:creationId xmlns:p14="http://schemas.microsoft.com/office/powerpoint/2010/main" val="3933913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3AFA-3943-4638-8CDD-32200A850F80}"/>
              </a:ext>
            </a:extLst>
          </p:cNvPr>
          <p:cNvSpPr>
            <a:spLocks noGrp="1"/>
          </p:cNvSpPr>
          <p:nvPr>
            <p:ph type="title"/>
          </p:nvPr>
        </p:nvSpPr>
        <p:spPr/>
        <p:txBody>
          <a:bodyPr/>
          <a:lstStyle/>
          <a:p>
            <a:r>
              <a:rPr lang="en-US" dirty="0">
                <a:latin typeface="Comic Sans MS" panose="030F0702030302020204" pitchFamily="66" charset="0"/>
              </a:rPr>
              <a:t>Conclusion.</a:t>
            </a:r>
          </a:p>
        </p:txBody>
      </p:sp>
      <p:sp>
        <p:nvSpPr>
          <p:cNvPr id="3" name="Content Placeholder 2">
            <a:extLst>
              <a:ext uri="{FF2B5EF4-FFF2-40B4-BE49-F238E27FC236}">
                <a16:creationId xmlns:a16="http://schemas.microsoft.com/office/drawing/2014/main" id="{258E133B-C0DE-414F-AA4A-A8D0C2E41A63}"/>
              </a:ext>
            </a:extLst>
          </p:cNvPr>
          <p:cNvSpPr>
            <a:spLocks noGrp="1"/>
          </p:cNvSpPr>
          <p:nvPr>
            <p:ph idx="1"/>
          </p:nvPr>
        </p:nvSpPr>
        <p:spPr>
          <a:xfrm>
            <a:off x="596630" y="2438400"/>
            <a:ext cx="10888493" cy="4137498"/>
          </a:xfrm>
        </p:spPr>
        <p:txBody>
          <a:bodyPr numCol="1">
            <a:noAutofit/>
          </a:bodyPr>
          <a:lstStyle/>
          <a:p>
            <a:pPr marL="0" indent="0" algn="just">
              <a:buNone/>
            </a:pPr>
            <a:r>
              <a:rPr lang="en-US" sz="1400" b="0" i="0" dirty="0">
                <a:solidFill>
                  <a:schemeClr val="accent1"/>
                </a:solidFill>
                <a:effectLst/>
                <a:latin typeface="Comic Sans MS" panose="030F0702030302020204" pitchFamily="66" charset="0"/>
              </a:rPr>
              <a:t>This Power BI sales analytics project successfully transformed raw sales data into an actionable business intelligence platform, providing comprehensive visibility into global sales performance across multiple dimensions. The dashboard delivers critical insights that enable data-driven decision making and strategic planning.</a:t>
            </a:r>
          </a:p>
          <a:p>
            <a:pPr marL="0" indent="0" algn="just">
              <a:buNone/>
            </a:pPr>
            <a:r>
              <a:rPr lang="en-US" sz="1400" b="1" dirty="0">
                <a:solidFill>
                  <a:schemeClr val="accent1"/>
                </a:solidFill>
                <a:effectLst/>
                <a:latin typeface="Comic Sans MS" panose="030F0702030302020204" pitchFamily="66" charset="0"/>
              </a:rPr>
              <a:t>Key Achievements:</a:t>
            </a:r>
          </a:p>
          <a:p>
            <a:pPr algn="just">
              <a:buFont typeface="Courier New" panose="02070309020205020404" pitchFamily="49" charset="0"/>
              <a:buChar char="o"/>
            </a:pPr>
            <a:r>
              <a:rPr lang="en-US" sz="1400" b="0" i="0" dirty="0">
                <a:solidFill>
                  <a:schemeClr val="accent1"/>
                </a:solidFill>
                <a:effectLst/>
                <a:latin typeface="Comic Sans MS" panose="030F0702030302020204" pitchFamily="66" charset="0"/>
              </a:rPr>
              <a:t>Developed 15 key metrics including total revenue, number of products, number of cities, average revenue, %urban, revenue trend by month and year, </a:t>
            </a:r>
            <a:r>
              <a:rPr lang="en-US" sz="1400" b="0" i="0" dirty="0" err="1">
                <a:solidFill>
                  <a:schemeClr val="accent1"/>
                </a:solidFill>
                <a:effectLst/>
                <a:latin typeface="Comic Sans MS" panose="030F0702030302020204" pitchFamily="66" charset="0"/>
              </a:rPr>
              <a:t>e.t.c</a:t>
            </a:r>
            <a:r>
              <a:rPr lang="en-US" sz="1400" b="0" i="0" dirty="0">
                <a:solidFill>
                  <a:schemeClr val="accent1"/>
                </a:solidFill>
                <a:effectLst/>
                <a:latin typeface="Comic Sans MS" panose="030F0702030302020204" pitchFamily="66" charset="0"/>
              </a:rPr>
              <a:t>.</a:t>
            </a:r>
          </a:p>
          <a:p>
            <a:pPr algn="just">
              <a:buFont typeface="Courier New" panose="02070309020205020404" pitchFamily="49" charset="0"/>
              <a:buChar char="o"/>
            </a:pPr>
            <a:r>
              <a:rPr lang="en-US" sz="1400" b="0" i="0" dirty="0">
                <a:solidFill>
                  <a:schemeClr val="accent1"/>
                </a:solidFill>
                <a:effectLst/>
                <a:latin typeface="Comic Sans MS" panose="030F0702030302020204" pitchFamily="66" charset="0"/>
              </a:rPr>
              <a:t>Developed </a:t>
            </a:r>
            <a:r>
              <a:rPr lang="en-US" sz="1400" i="0" dirty="0">
                <a:solidFill>
                  <a:schemeClr val="accent1"/>
                </a:solidFill>
                <a:effectLst/>
                <a:latin typeface="Comic Sans MS" panose="030F0702030302020204" pitchFamily="66" charset="0"/>
              </a:rPr>
              <a:t>trend analysis</a:t>
            </a:r>
            <a:r>
              <a:rPr lang="en-US" sz="1400" b="0" i="0" dirty="0">
                <a:solidFill>
                  <a:schemeClr val="accent1"/>
                </a:solidFill>
                <a:effectLst/>
                <a:latin typeface="Comic Sans MS" panose="030F0702030302020204" pitchFamily="66" charset="0"/>
              </a:rPr>
              <a:t> with line charts, sparklines and dates.</a:t>
            </a:r>
          </a:p>
          <a:p>
            <a:pPr marL="0" indent="0" algn="just">
              <a:buNone/>
            </a:pPr>
            <a:r>
              <a:rPr lang="en-US" sz="1400" b="1" dirty="0">
                <a:solidFill>
                  <a:schemeClr val="accent1"/>
                </a:solidFill>
                <a:effectLst/>
                <a:latin typeface="Comic Sans MS" panose="030F0702030302020204" pitchFamily="66" charset="0"/>
              </a:rPr>
              <a:t>Strategic Insights Uncovered:</a:t>
            </a:r>
          </a:p>
          <a:p>
            <a:pPr algn="just">
              <a:buFont typeface="Courier New" panose="02070309020205020404" pitchFamily="49" charset="0"/>
              <a:buChar char="o"/>
            </a:pPr>
            <a:r>
              <a:rPr lang="en-US" sz="1400" b="1" i="0" dirty="0">
                <a:solidFill>
                  <a:schemeClr val="accent1"/>
                </a:solidFill>
                <a:effectLst/>
                <a:latin typeface="Comic Sans MS" panose="030F0702030302020204" pitchFamily="66" charset="0"/>
              </a:rPr>
              <a:t>Urban markets</a:t>
            </a:r>
            <a:r>
              <a:rPr lang="en-US" sz="1400" b="0" i="0" dirty="0">
                <a:solidFill>
                  <a:schemeClr val="accent1"/>
                </a:solidFill>
                <a:effectLst/>
                <a:latin typeface="Comic Sans MS" panose="030F0702030302020204" pitchFamily="66" charset="0"/>
              </a:rPr>
              <a:t> drive 79.30% of the total revenue.</a:t>
            </a:r>
          </a:p>
          <a:p>
            <a:pPr algn="just">
              <a:buFont typeface="Courier New" panose="02070309020205020404" pitchFamily="49" charset="0"/>
              <a:buChar char="o"/>
            </a:pPr>
            <a:r>
              <a:rPr lang="en-US" sz="1400" b="1" i="0" dirty="0">
                <a:solidFill>
                  <a:schemeClr val="accent1"/>
                </a:solidFill>
                <a:effectLst/>
                <a:latin typeface="Comic Sans MS" panose="030F0702030302020204" pitchFamily="66" charset="0"/>
              </a:rPr>
              <a:t>Convenience segment</a:t>
            </a:r>
            <a:r>
              <a:rPr lang="en-US" sz="1400" b="0" i="0" dirty="0">
                <a:solidFill>
                  <a:schemeClr val="accent1"/>
                </a:solidFill>
                <a:effectLst/>
                <a:latin typeface="Comic Sans MS" panose="030F0702030302020204" pitchFamily="66" charset="0"/>
              </a:rPr>
              <a:t> drive $1BN total revenue.</a:t>
            </a:r>
          </a:p>
          <a:p>
            <a:pPr algn="just">
              <a:buFont typeface="Courier New" panose="02070309020205020404" pitchFamily="49" charset="0"/>
              <a:buChar char="o"/>
            </a:pPr>
            <a:r>
              <a:rPr lang="en-US" sz="1400" b="1" dirty="0">
                <a:solidFill>
                  <a:schemeClr val="accent1"/>
                </a:solidFill>
                <a:latin typeface="Comic Sans MS" panose="030F0702030302020204" pitchFamily="66" charset="0"/>
              </a:rPr>
              <a:t>Top products and manufacturers</a:t>
            </a:r>
            <a:r>
              <a:rPr lang="en-US" sz="1400" dirty="0">
                <a:solidFill>
                  <a:schemeClr val="accent1"/>
                </a:solidFill>
                <a:latin typeface="Comic Sans MS" panose="030F0702030302020204" pitchFamily="66" charset="0"/>
              </a:rPr>
              <a:t> have been identified.</a:t>
            </a:r>
          </a:p>
          <a:p>
            <a:pPr algn="just">
              <a:buFont typeface="Courier New" panose="02070309020205020404" pitchFamily="49" charset="0"/>
              <a:buChar char="o"/>
            </a:pPr>
            <a:r>
              <a:rPr lang="en-US" sz="1400" b="1" i="0" dirty="0">
                <a:solidFill>
                  <a:schemeClr val="accent1"/>
                </a:solidFill>
                <a:effectLst/>
                <a:latin typeface="Comic Sans MS" panose="030F0702030302020204" pitchFamily="66" charset="0"/>
              </a:rPr>
              <a:t>Least products and manufacturers</a:t>
            </a:r>
            <a:r>
              <a:rPr lang="en-US" sz="1400" b="0" i="0" dirty="0">
                <a:solidFill>
                  <a:schemeClr val="accent1"/>
                </a:solidFill>
                <a:effectLst/>
                <a:latin typeface="Comic Sans MS" panose="030F0702030302020204" pitchFamily="66" charset="0"/>
              </a:rPr>
              <a:t> have been identified.</a:t>
            </a:r>
          </a:p>
          <a:p>
            <a:pPr algn="just">
              <a:buFont typeface="Courier New" panose="02070309020205020404" pitchFamily="49" charset="0"/>
              <a:buChar char="o"/>
            </a:pPr>
            <a:r>
              <a:rPr lang="en-US" sz="1400" b="1" dirty="0">
                <a:solidFill>
                  <a:schemeClr val="accent1"/>
                </a:solidFill>
                <a:latin typeface="Comic Sans MS" panose="030F0702030302020204" pitchFamily="66" charset="0"/>
              </a:rPr>
              <a:t>Most sales</a:t>
            </a:r>
            <a:r>
              <a:rPr lang="en-US" sz="1400" dirty="0">
                <a:solidFill>
                  <a:schemeClr val="accent1"/>
                </a:solidFill>
                <a:latin typeface="Comic Sans MS" panose="030F0702030302020204" pitchFamily="66" charset="0"/>
              </a:rPr>
              <a:t> across the years happen in the second quarter.</a:t>
            </a:r>
            <a:endParaRPr lang="en-US" sz="1400" b="0" i="0" dirty="0">
              <a:solidFill>
                <a:schemeClr val="accent1"/>
              </a:solidFill>
              <a:effectLst/>
              <a:latin typeface="Comic Sans MS" panose="030F0702030302020204" pitchFamily="66" charset="0"/>
            </a:endParaRPr>
          </a:p>
          <a:p>
            <a:pPr marL="0" indent="0" algn="just">
              <a:buNone/>
            </a:pPr>
            <a:endParaRPr lang="en-US" sz="1400" dirty="0">
              <a:solidFill>
                <a:schemeClr val="accent1"/>
              </a:solidFill>
              <a:latin typeface="Comic Sans MS" panose="030F0702030302020204" pitchFamily="66" charset="0"/>
            </a:endParaRPr>
          </a:p>
        </p:txBody>
      </p:sp>
    </p:spTree>
    <p:extLst>
      <p:ext uri="{BB962C8B-B14F-4D97-AF65-F5344CB8AC3E}">
        <p14:creationId xmlns:p14="http://schemas.microsoft.com/office/powerpoint/2010/main" val="12441901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3AFA-3943-4638-8CDD-32200A850F80}"/>
              </a:ext>
            </a:extLst>
          </p:cNvPr>
          <p:cNvSpPr>
            <a:spLocks noGrp="1"/>
          </p:cNvSpPr>
          <p:nvPr>
            <p:ph type="title"/>
          </p:nvPr>
        </p:nvSpPr>
        <p:spPr/>
        <p:txBody>
          <a:bodyPr/>
          <a:lstStyle/>
          <a:p>
            <a:r>
              <a:rPr lang="en-US" dirty="0">
                <a:latin typeface="Comic Sans MS" panose="030F0702030302020204" pitchFamily="66" charset="0"/>
              </a:rPr>
              <a:t>Recommendation.</a:t>
            </a:r>
          </a:p>
        </p:txBody>
      </p:sp>
      <p:sp>
        <p:nvSpPr>
          <p:cNvPr id="3" name="Content Placeholder 2">
            <a:extLst>
              <a:ext uri="{FF2B5EF4-FFF2-40B4-BE49-F238E27FC236}">
                <a16:creationId xmlns:a16="http://schemas.microsoft.com/office/drawing/2014/main" id="{258E133B-C0DE-414F-AA4A-A8D0C2E41A63}"/>
              </a:ext>
            </a:extLst>
          </p:cNvPr>
          <p:cNvSpPr>
            <a:spLocks noGrp="1"/>
          </p:cNvSpPr>
          <p:nvPr>
            <p:ph idx="1"/>
          </p:nvPr>
        </p:nvSpPr>
        <p:spPr>
          <a:xfrm>
            <a:off x="363166" y="2243846"/>
            <a:ext cx="11121957" cy="4461753"/>
          </a:xfrm>
        </p:spPr>
        <p:txBody>
          <a:bodyPr numCol="1">
            <a:noAutofit/>
          </a:bodyPr>
          <a:lstStyle/>
          <a:p>
            <a:pPr algn="just">
              <a:buFont typeface="+mj-lt"/>
              <a:buAutoNum type="arabicPeriod"/>
            </a:pPr>
            <a:r>
              <a:rPr lang="en-US" b="1" dirty="0">
                <a:solidFill>
                  <a:schemeClr val="accent1"/>
                </a:solidFill>
                <a:latin typeface="Comic Sans MS" panose="030F0702030302020204" pitchFamily="66" charset="0"/>
              </a:rPr>
              <a:t>Focus Resources on the Least Selling Products.</a:t>
            </a:r>
            <a:endParaRPr lang="en-US" dirty="0">
              <a:solidFill>
                <a:schemeClr val="accent1"/>
              </a:solidFill>
              <a:latin typeface="Comic Sans MS" panose="030F0702030302020204" pitchFamily="66" charset="0"/>
            </a:endParaRPr>
          </a:p>
          <a:p>
            <a:pPr algn="just">
              <a:buFont typeface="Wingdings" panose="05000000000000000000" pitchFamily="2" charset="2"/>
              <a:buChar char="§"/>
            </a:pPr>
            <a:r>
              <a:rPr lang="en-US" dirty="0">
                <a:solidFill>
                  <a:schemeClr val="accent1"/>
                </a:solidFill>
                <a:latin typeface="Comic Sans MS" panose="030F0702030302020204" pitchFamily="66" charset="0"/>
              </a:rPr>
              <a:t>Bundle low selling products with the high selling ones as bonuses. For example, “Buy product A and get product B free or at a discounted price.”</a:t>
            </a:r>
          </a:p>
          <a:p>
            <a:pPr algn="just">
              <a:buFont typeface="Wingdings" panose="05000000000000000000" pitchFamily="2" charset="2"/>
              <a:buChar char="§"/>
            </a:pPr>
            <a:r>
              <a:rPr lang="en-US" dirty="0">
                <a:solidFill>
                  <a:schemeClr val="accent1"/>
                </a:solidFill>
                <a:latin typeface="Comic Sans MS" panose="030F0702030302020204" pitchFamily="66" charset="0"/>
              </a:rPr>
              <a:t>Conduct customer surveys.</a:t>
            </a:r>
          </a:p>
          <a:p>
            <a:pPr algn="just">
              <a:buFont typeface="Wingdings" panose="05000000000000000000" pitchFamily="2" charset="2"/>
              <a:buChar char="§"/>
            </a:pPr>
            <a:r>
              <a:rPr lang="en-US" dirty="0">
                <a:solidFill>
                  <a:schemeClr val="accent1"/>
                </a:solidFill>
                <a:latin typeface="Comic Sans MS" panose="030F0702030302020204" pitchFamily="66" charset="0"/>
              </a:rPr>
              <a:t>Run targeted social media ads to interested but unaware audiences and low performing cities.</a:t>
            </a:r>
          </a:p>
          <a:p>
            <a:pPr marL="0" indent="0" algn="just">
              <a:buNone/>
            </a:pPr>
            <a:r>
              <a:rPr lang="en-US" b="1" dirty="0">
                <a:solidFill>
                  <a:schemeClr val="accent1"/>
                </a:solidFill>
                <a:latin typeface="Comic Sans MS" panose="030F0702030302020204" pitchFamily="66" charset="0"/>
              </a:rPr>
              <a:t>2. Review and Monitor the monthly performances of the bottom 5 manufacturers.</a:t>
            </a:r>
          </a:p>
          <a:p>
            <a:pPr marL="0" indent="0" algn="just">
              <a:buNone/>
            </a:pPr>
            <a:r>
              <a:rPr lang="en-US" b="1" dirty="0">
                <a:solidFill>
                  <a:schemeClr val="accent1"/>
                </a:solidFill>
                <a:latin typeface="Comic Sans MS" panose="030F0702030302020204" pitchFamily="66" charset="0"/>
              </a:rPr>
              <a:t>Ultimately,</a:t>
            </a:r>
          </a:p>
          <a:p>
            <a:pPr algn="just">
              <a:buFont typeface="Wingdings" panose="05000000000000000000" pitchFamily="2" charset="2"/>
              <a:buChar char="§"/>
            </a:pPr>
            <a:r>
              <a:rPr lang="en-US" b="1" dirty="0">
                <a:solidFill>
                  <a:schemeClr val="accent1"/>
                </a:solidFill>
                <a:latin typeface="Comic Sans MS" panose="030F0702030302020204" pitchFamily="66" charset="0"/>
              </a:rPr>
              <a:t>R</a:t>
            </a:r>
            <a:r>
              <a:rPr lang="en-US" dirty="0">
                <a:solidFill>
                  <a:schemeClr val="accent1"/>
                </a:solidFill>
                <a:latin typeface="Comic Sans MS" panose="030F0702030302020204" pitchFamily="66" charset="0"/>
              </a:rPr>
              <a:t> - Reposition (Change perception).</a:t>
            </a:r>
          </a:p>
          <a:p>
            <a:pPr algn="just">
              <a:buFont typeface="Wingdings" panose="05000000000000000000" pitchFamily="2" charset="2"/>
              <a:buChar char="§"/>
            </a:pPr>
            <a:r>
              <a:rPr lang="en-US" b="1" dirty="0">
                <a:solidFill>
                  <a:schemeClr val="accent1"/>
                </a:solidFill>
                <a:latin typeface="Comic Sans MS" panose="030F0702030302020204" pitchFamily="66" charset="0"/>
              </a:rPr>
              <a:t>I</a:t>
            </a:r>
            <a:r>
              <a:rPr lang="en-US" dirty="0">
                <a:solidFill>
                  <a:schemeClr val="accent1"/>
                </a:solidFill>
                <a:latin typeface="Comic Sans MS" panose="030F0702030302020204" pitchFamily="66" charset="0"/>
              </a:rPr>
              <a:t> - Incentivize (Better Economics).</a:t>
            </a:r>
          </a:p>
          <a:p>
            <a:pPr algn="just">
              <a:buFont typeface="Wingdings" panose="05000000000000000000" pitchFamily="2" charset="2"/>
              <a:buChar char="§"/>
            </a:pPr>
            <a:r>
              <a:rPr lang="en-US" b="1" dirty="0">
                <a:solidFill>
                  <a:schemeClr val="accent1"/>
                </a:solidFill>
                <a:latin typeface="Comic Sans MS" panose="030F0702030302020204" pitchFamily="66" charset="0"/>
              </a:rPr>
              <a:t>S</a:t>
            </a:r>
            <a:r>
              <a:rPr lang="en-US" dirty="0">
                <a:solidFill>
                  <a:schemeClr val="accent1"/>
                </a:solidFill>
                <a:latin typeface="Comic Sans MS" panose="030F0702030302020204" pitchFamily="66" charset="0"/>
              </a:rPr>
              <a:t> - Support (Enhance Service).</a:t>
            </a:r>
          </a:p>
          <a:p>
            <a:pPr algn="just">
              <a:buFont typeface="Wingdings" panose="05000000000000000000" pitchFamily="2" charset="2"/>
              <a:buChar char="§"/>
            </a:pPr>
            <a:r>
              <a:rPr lang="en-US" b="1" dirty="0">
                <a:solidFill>
                  <a:schemeClr val="accent1"/>
                </a:solidFill>
                <a:latin typeface="Comic Sans MS" panose="030F0702030302020204" pitchFamily="66" charset="0"/>
              </a:rPr>
              <a:t>E</a:t>
            </a:r>
            <a:r>
              <a:rPr lang="en-US" dirty="0">
                <a:solidFill>
                  <a:schemeClr val="accent1"/>
                </a:solidFill>
                <a:latin typeface="Comic Sans MS" panose="030F0702030302020204" pitchFamily="66" charset="0"/>
              </a:rPr>
              <a:t> – Expose (Increase Visibility).</a:t>
            </a:r>
          </a:p>
        </p:txBody>
      </p:sp>
    </p:spTree>
    <p:extLst>
      <p:ext uri="{BB962C8B-B14F-4D97-AF65-F5344CB8AC3E}">
        <p14:creationId xmlns:p14="http://schemas.microsoft.com/office/powerpoint/2010/main" val="151210856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16FDB-EFAD-4CFF-90F9-651274F3EABF}"/>
              </a:ext>
            </a:extLst>
          </p:cNvPr>
          <p:cNvSpPr>
            <a:spLocks noGrp="1"/>
          </p:cNvSpPr>
          <p:nvPr>
            <p:ph type="title"/>
          </p:nvPr>
        </p:nvSpPr>
        <p:spPr/>
        <p:txBody>
          <a:bodyPr/>
          <a:lstStyle/>
          <a:p>
            <a:r>
              <a:rPr lang="en-US" dirty="0">
                <a:latin typeface="Comic Sans MS" panose="030F0702030302020204" pitchFamily="66" charset="0"/>
              </a:rPr>
              <a:t>Gratitude.</a:t>
            </a:r>
          </a:p>
        </p:txBody>
      </p:sp>
      <p:sp>
        <p:nvSpPr>
          <p:cNvPr id="3" name="Content Placeholder 2">
            <a:extLst>
              <a:ext uri="{FF2B5EF4-FFF2-40B4-BE49-F238E27FC236}">
                <a16:creationId xmlns:a16="http://schemas.microsoft.com/office/drawing/2014/main" id="{DB5B5E54-6140-4746-8BDE-9864E12EBA32}"/>
              </a:ext>
            </a:extLst>
          </p:cNvPr>
          <p:cNvSpPr>
            <a:spLocks noGrp="1"/>
          </p:cNvSpPr>
          <p:nvPr>
            <p:ph idx="1"/>
          </p:nvPr>
        </p:nvSpPr>
        <p:spPr/>
        <p:txBody>
          <a:bodyPr/>
          <a:lstStyle/>
          <a:p>
            <a:pPr marL="0" indent="0" algn="just">
              <a:buNone/>
            </a:pPr>
            <a:r>
              <a:rPr lang="en-US" dirty="0">
                <a:solidFill>
                  <a:schemeClr val="accent1"/>
                </a:solidFill>
                <a:latin typeface="Comic Sans MS" panose="030F0702030302020204" pitchFamily="66" charset="0"/>
              </a:rPr>
              <a:t>Thank You.</a:t>
            </a:r>
          </a:p>
          <a:p>
            <a:pPr marL="0" indent="0" algn="just">
              <a:buNone/>
            </a:pPr>
            <a:endParaRPr lang="en-US" dirty="0">
              <a:solidFill>
                <a:schemeClr val="accent1"/>
              </a:solidFill>
              <a:latin typeface="Comic Sans MS" panose="030F0702030302020204" pitchFamily="66" charset="0"/>
            </a:endParaRPr>
          </a:p>
          <a:p>
            <a:pPr marL="0" indent="0" algn="just">
              <a:buNone/>
            </a:pPr>
            <a:r>
              <a:rPr lang="en-US" dirty="0">
                <a:solidFill>
                  <a:schemeClr val="accent1"/>
                </a:solidFill>
                <a:latin typeface="Comic Sans MS" panose="030F0702030302020204" pitchFamily="66" charset="0"/>
              </a:rPr>
              <a:t>I would like to express my gratitude to Mr. Josh for his valuable insights and teaching. I am glad to be your student.</a:t>
            </a:r>
          </a:p>
          <a:p>
            <a:pPr marL="0" indent="0" algn="just">
              <a:buNone/>
            </a:pPr>
            <a:endParaRPr lang="en-US" dirty="0">
              <a:solidFill>
                <a:schemeClr val="accent1"/>
              </a:solidFill>
              <a:latin typeface="Comic Sans MS" panose="030F0702030302020204" pitchFamily="66" charset="0"/>
            </a:endParaRPr>
          </a:p>
          <a:p>
            <a:pPr marL="0" indent="0" algn="just">
              <a:buNone/>
            </a:pPr>
            <a:r>
              <a:rPr lang="en-US" dirty="0">
                <a:solidFill>
                  <a:schemeClr val="accent1"/>
                </a:solidFill>
                <a:latin typeface="Comic Sans MS" panose="030F0702030302020204" pitchFamily="66" charset="0"/>
              </a:rPr>
              <a:t>Aderonke Diana Adeoye.</a:t>
            </a:r>
          </a:p>
        </p:txBody>
      </p:sp>
      <p:pic>
        <p:nvPicPr>
          <p:cNvPr id="8" name="Picture 7">
            <a:extLst>
              <a:ext uri="{FF2B5EF4-FFF2-40B4-BE49-F238E27FC236}">
                <a16:creationId xmlns:a16="http://schemas.microsoft.com/office/drawing/2014/main" id="{21A3CEEC-3D2B-4870-AD39-58B297DA1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6042" y="3647892"/>
            <a:ext cx="2769142" cy="2769142"/>
          </a:xfrm>
          <a:prstGeom prst="rect">
            <a:avLst/>
          </a:prstGeom>
        </p:spPr>
      </p:pic>
    </p:spTree>
    <p:extLst>
      <p:ext uri="{BB962C8B-B14F-4D97-AF65-F5344CB8AC3E}">
        <p14:creationId xmlns:p14="http://schemas.microsoft.com/office/powerpoint/2010/main" val="10636896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896</TotalTime>
  <Words>1603</Words>
  <Application>Microsoft Office PowerPoint</Application>
  <PresentationFormat>Widescreen</PresentationFormat>
  <Paragraphs>174</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Century Gothic</vt:lpstr>
      <vt:lpstr>Comic Sans MS</vt:lpstr>
      <vt:lpstr>Courier New</vt:lpstr>
      <vt:lpstr>Wingdings</vt:lpstr>
      <vt:lpstr>Wingdings 3</vt:lpstr>
      <vt:lpstr>Ion Boardroom</vt:lpstr>
      <vt:lpstr>SALES ANALYSIS PROJECT – POWERBI</vt:lpstr>
      <vt:lpstr>Overview.</vt:lpstr>
      <vt:lpstr>Problem Statement.</vt:lpstr>
      <vt:lpstr>Methodology – Data Collection and Integration.</vt:lpstr>
      <vt:lpstr>Methodology – Data Cleaning and Preparation.</vt:lpstr>
      <vt:lpstr>Methodology – Exploratory Data Analysis.</vt:lpstr>
      <vt:lpstr>Methodology – Visualization and Insight.</vt:lpstr>
      <vt:lpstr>Total Revenue.</vt:lpstr>
      <vt:lpstr>Total Number of Products.</vt:lpstr>
      <vt:lpstr>Total Number of Manufacturers.</vt:lpstr>
      <vt:lpstr>Percentage of Urban Revenue.</vt:lpstr>
      <vt:lpstr>Total Number of Countries.</vt:lpstr>
      <vt:lpstr>Total Number of Cities.</vt:lpstr>
      <vt:lpstr>Revenue Trend by Month and Year.</vt:lpstr>
      <vt:lpstr>Top 5 Manufacturers by Revenue.</vt:lpstr>
      <vt:lpstr>Top 10 Products by Revenue.</vt:lpstr>
      <vt:lpstr>Total Revenue by Category.</vt:lpstr>
      <vt:lpstr>Total Revenue by Country.</vt:lpstr>
      <vt:lpstr>Total Revenue by Segment.</vt:lpstr>
      <vt:lpstr>Conclusion.</vt:lpstr>
      <vt:lpstr>Recommendation.</vt:lpstr>
      <vt:lpstr>Gratitude.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ANALYSIS PROJECT</dc:title>
  <dc:creator>Aderonke Adeoye</dc:creator>
  <cp:lastModifiedBy>Aderonke Adeoye</cp:lastModifiedBy>
  <cp:revision>141</cp:revision>
  <dcterms:created xsi:type="dcterms:W3CDTF">2025-11-18T21:43:00Z</dcterms:created>
  <dcterms:modified xsi:type="dcterms:W3CDTF">2025-11-22T16:23:58Z</dcterms:modified>
</cp:coreProperties>
</file>